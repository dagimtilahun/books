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0" r:id="rId4"/>
    <p:sldId id="281" r:id="rId5"/>
    <p:sldId id="279" r:id="rId6"/>
    <p:sldId id="286" r:id="rId7"/>
    <p:sldId id="282" r:id="rId8"/>
    <p:sldId id="285" r:id="rId9"/>
    <p:sldId id="283" r:id="rId10"/>
    <p:sldId id="288" r:id="rId11"/>
    <p:sldId id="289" r:id="rId12"/>
    <p:sldId id="290" r:id="rId13"/>
    <p:sldId id="287" r:id="rId14"/>
    <p:sldId id="284" r:id="rId15"/>
    <p:sldId id="291" r:id="rId16"/>
    <p:sldId id="297" r:id="rId17"/>
    <p:sldId id="298" r:id="rId18"/>
    <p:sldId id="299" r:id="rId19"/>
    <p:sldId id="300" r:id="rId20"/>
    <p:sldId id="295" r:id="rId21"/>
    <p:sldId id="302" r:id="rId22"/>
    <p:sldId id="303" r:id="rId23"/>
    <p:sldId id="304" r:id="rId24"/>
    <p:sldId id="305" r:id="rId25"/>
    <p:sldId id="310" r:id="rId26"/>
    <p:sldId id="311" r:id="rId27"/>
    <p:sldId id="312" r:id="rId28"/>
    <p:sldId id="301" r:id="rId29"/>
    <p:sldId id="313" r:id="rId30"/>
    <p:sldId id="314" r:id="rId31"/>
    <p:sldId id="315" r:id="rId32"/>
    <p:sldId id="316" r:id="rId3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FF"/>
    <a:srgbClr val="35759D"/>
    <a:srgbClr val="35B19D"/>
    <a:srgbClr val="000000"/>
    <a:srgbClr val="FFFF00"/>
    <a:srgbClr val="B3D3EA"/>
    <a:srgbClr val="78A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5596" autoAdjust="0"/>
  </p:normalViewPr>
  <p:slideViewPr>
    <p:cSldViewPr>
      <p:cViewPr varScale="1">
        <p:scale>
          <a:sx n="72" d="100"/>
          <a:sy n="72" d="100"/>
        </p:scale>
        <p:origin x="11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C318AE-87D1-4F2C-9B5B-5CC15E90832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114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348AFC-35FF-4579-8DEE-6563F951C827}" type="slidenum">
              <a:rPr lang="en-US"/>
              <a:pPr/>
              <a:t>1</a:t>
            </a:fld>
            <a:endParaRPr lang="en-US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616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001316-79F9-485C-8EA1-FBC810B2810C}" type="slidenum">
              <a:rPr lang="en-US"/>
              <a:pPr/>
              <a:t>2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971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5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17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6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1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7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59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8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156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9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850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14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929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15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58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16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785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20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627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21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70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22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380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25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726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57BF7-D335-4CAB-B353-C487D7F4C70A}" type="slidenum">
              <a:rPr lang="en-US"/>
              <a:pPr/>
              <a:t>28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274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05350" y="2943225"/>
            <a:ext cx="3657600" cy="7048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4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05350" y="3905250"/>
            <a:ext cx="3657600" cy="5143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913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743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552575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552575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181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43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843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14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153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1299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6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1775" y="38100"/>
            <a:ext cx="2171700" cy="5629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675" y="38100"/>
            <a:ext cx="6362700" cy="5629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073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6675" y="381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8700" y="1552575"/>
            <a:ext cx="7315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419600" y="2428875"/>
            <a:ext cx="3657600" cy="514350"/>
          </a:xfrm>
        </p:spPr>
        <p:txBody>
          <a:bodyPr/>
          <a:lstStyle/>
          <a:p>
            <a:pPr algn="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4</a:t>
            </a:r>
          </a:p>
          <a:p>
            <a:pPr algn="r"/>
            <a:endParaRPr lang="ru-RU" dirty="0"/>
          </a:p>
          <a:p>
            <a:pPr algn="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505200" y="402798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Addis Ababa Science and Technology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0" y="388620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Mechanics</a:t>
            </a:r>
            <a:r>
              <a:rPr lang="en-US" dirty="0"/>
              <a:t> I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>
          <a:xfrm>
            <a:off x="1333500" y="609600"/>
            <a:ext cx="7277100" cy="533400"/>
          </a:xfrm>
        </p:spPr>
        <p:txBody>
          <a:bodyPr/>
          <a:lstStyle/>
          <a:p>
            <a:r>
              <a:rPr lang="en-US" sz="40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 </a:t>
            </a:r>
            <a:endParaRPr lang="ru-RU" sz="4000" dirty="0">
              <a:solidFill>
                <a:srgbClr val="FF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333500" y="1295400"/>
            <a:ext cx="7277100" cy="51054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STRUCTURES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64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4.1. Introduction</a:t>
            </a:r>
          </a:p>
          <a:p>
            <a:pPr marL="4064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4.2. Trusses</a:t>
            </a:r>
          </a:p>
          <a:p>
            <a:pPr marL="9144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4.2.1. Plane Trusses</a:t>
            </a:r>
          </a:p>
          <a:p>
            <a:pPr marL="15494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Method of Joints </a:t>
            </a:r>
          </a:p>
          <a:p>
            <a:pPr marL="15494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Method of Sections</a:t>
            </a:r>
          </a:p>
          <a:p>
            <a:pPr marL="8636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4.2.2. Space Trusses</a:t>
            </a:r>
          </a:p>
          <a:p>
            <a:pPr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4.3. Pin-ended Multi-Force Structures</a:t>
            </a:r>
          </a:p>
          <a:p>
            <a:pPr marL="8636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4.3.1. Frames </a:t>
            </a:r>
          </a:p>
          <a:p>
            <a:pPr marL="86360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4.3.2. Simple Machines</a:t>
            </a:r>
          </a:p>
          <a:p>
            <a:pPr>
              <a:lnSpc>
                <a:spcPct val="80000"/>
              </a:lnSpc>
            </a:pP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810500" cy="533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4.1 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400" y="762000"/>
            <a:ext cx="7810500" cy="5456878"/>
          </a:xfrm>
        </p:spPr>
        <p:txBody>
          <a:bodyPr lIns="91440" tIns="91440">
            <a:spAutoFit/>
          </a:bodyPr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focus on determination of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internal to the structure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structure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any connected system of members built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forces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to safely withstand the loads applied to it.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forces acting on trusses, frames and machines will be analyzed.</a:t>
            </a:r>
          </a:p>
          <a:p>
            <a:pPr marL="0" lv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87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810500" cy="533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4.2 Trusses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0" y="1143000"/>
            <a:ext cx="7467600" cy="5029200"/>
          </a:xfrm>
        </p:spPr>
        <p:txBody>
          <a:bodyPr lIns="91440" tIns="91440"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4.2.1. Plane Trusses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truss is a framework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of members joined at their ends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form a rigid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truss lie essentially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single plane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truss is known as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plane truss</a:t>
            </a:r>
          </a:p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Bridges, roof supports, derricks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common examples of trusses </a:t>
            </a:r>
          </a:p>
        </p:txBody>
      </p:sp>
    </p:spTree>
    <p:extLst>
      <p:ext uri="{BB962C8B-B14F-4D97-AF65-F5344CB8AC3E}">
        <p14:creationId xmlns:p14="http://schemas.microsoft.com/office/powerpoint/2010/main" val="100306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5638800"/>
            <a:ext cx="6934200" cy="715963"/>
          </a:xfrm>
        </p:spPr>
        <p:txBody>
          <a:bodyPr/>
          <a:lstStyle/>
          <a:p>
            <a:r>
              <a:rPr lang="en-US" sz="2800" dirty="0">
                <a:solidFill>
                  <a:srgbClr val="C00000"/>
                </a:solidFill>
              </a:rPr>
              <a:t>Roof Truss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219200"/>
            <a:ext cx="5257800" cy="3938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867400"/>
            <a:ext cx="6934200" cy="715963"/>
          </a:xfrm>
        </p:spPr>
        <p:txBody>
          <a:bodyPr/>
          <a:lstStyle/>
          <a:p>
            <a:r>
              <a:rPr lang="en-US" sz="2800" dirty="0">
                <a:solidFill>
                  <a:srgbClr val="C00000"/>
                </a:solidFill>
              </a:rPr>
              <a:t>Commonly Used Roof Trusses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288" y="1447800"/>
            <a:ext cx="682002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6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5791200"/>
            <a:ext cx="6934200" cy="715963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Tokyo Gate Bridge</a:t>
            </a:r>
            <a:r>
              <a:rPr lang="en-US" sz="3200" dirty="0"/>
              <a:t>, </a:t>
            </a:r>
            <a:r>
              <a:rPr lang="en-US" sz="2000" dirty="0"/>
              <a:t>a 2.6km long truss bridge </a:t>
            </a:r>
            <a:endParaRPr lang="en-US" sz="28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6934200" cy="42672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81000"/>
            <a:ext cx="6096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8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867400"/>
            <a:ext cx="6934200" cy="715963"/>
          </a:xfrm>
        </p:spPr>
        <p:txBody>
          <a:bodyPr/>
          <a:lstStyle/>
          <a:p>
            <a:r>
              <a:rPr lang="en-US" sz="2800" dirty="0">
                <a:solidFill>
                  <a:srgbClr val="C00000"/>
                </a:solidFill>
              </a:rPr>
              <a:t>Commonly Used Bridge Trusses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967" y="1295400"/>
            <a:ext cx="655466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3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0" y="5969001"/>
            <a:ext cx="2971800" cy="715963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Derricks </a:t>
            </a:r>
            <a:r>
              <a:rPr lang="en-US" sz="4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6934200" cy="42672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  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51718"/>
            <a:ext cx="3581400" cy="4775200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096000" y="3548459"/>
            <a:ext cx="25908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r>
              <a:rPr lang="en-US" sz="2400" dirty="0">
                <a:solidFill>
                  <a:srgbClr val="C00000"/>
                </a:solidFill>
              </a:rPr>
              <a:t>Transmission Towers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3318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3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810500" cy="533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Truss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381000"/>
            <a:ext cx="7858125" cy="5943600"/>
          </a:xfrm>
        </p:spPr>
        <p:txBody>
          <a:bodyPr lIns="91440" tIns="91440">
            <a:noAutofit/>
          </a:bodyPr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plane truss is </a:t>
            </a:r>
            <a:r>
              <a:rPr lang="en-US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triangle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bars joined by a pin at their end forms a rigid frame </a:t>
            </a:r>
          </a:p>
          <a:p>
            <a:pPr lvl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built from a basic triangle are known are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truss.</a:t>
            </a:r>
            <a:r>
              <a:rPr lang="en-US" sz="280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514600"/>
            <a:ext cx="22764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6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810500" cy="533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Truss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508000"/>
            <a:ext cx="7858125" cy="6350000"/>
          </a:xfrm>
          <a:effectLst>
            <a:reflection endPos="65000" dist="50800" dir="5400000" sy="-100000" algn="bl" rotWithShape="0"/>
          </a:effectLst>
        </p:spPr>
        <p:txBody>
          <a:bodyPr lIns="91440" tIns="91440">
            <a:noAutofit/>
          </a:bodyPr>
          <a:lstStyle/>
          <a:p>
            <a:pPr marL="0" lvl="0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Assumptions in the force analysis of simple trusses  </a:t>
            </a:r>
          </a:p>
          <a:p>
            <a:pPr lvl="0" algn="just"/>
            <a:r>
              <a:rPr lang="en-US" dirty="0"/>
              <a:t>All members are assumed to be </a:t>
            </a:r>
            <a:r>
              <a:rPr lang="en-US" dirty="0">
                <a:solidFill>
                  <a:srgbClr val="C00000"/>
                </a:solidFill>
              </a:rPr>
              <a:t>two-force members.</a:t>
            </a:r>
          </a:p>
          <a:p>
            <a:pPr lvl="0" algn="just"/>
            <a:endParaRPr lang="en-US" dirty="0">
              <a:solidFill>
                <a:srgbClr val="C00000"/>
              </a:solidFill>
            </a:endParaRPr>
          </a:p>
          <a:p>
            <a:pPr lvl="0" algn="just"/>
            <a:endParaRPr lang="en-US" dirty="0">
              <a:solidFill>
                <a:srgbClr val="C00000"/>
              </a:solidFill>
            </a:endParaRPr>
          </a:p>
          <a:p>
            <a:pPr lvl="0" algn="just"/>
            <a:endParaRPr lang="en-US" dirty="0">
              <a:solidFill>
                <a:srgbClr val="C00000"/>
              </a:solidFill>
            </a:endParaRPr>
          </a:p>
          <a:p>
            <a:pPr lvl="0" algn="just"/>
            <a:endParaRPr lang="en-US" dirty="0">
              <a:solidFill>
                <a:srgbClr val="C00000"/>
              </a:solidFill>
            </a:endParaRPr>
          </a:p>
          <a:p>
            <a:pPr algn="just"/>
            <a:r>
              <a:rPr lang="en-US" sz="2800" dirty="0"/>
              <a:t>The two forces are applied at the ends of the member.</a:t>
            </a:r>
          </a:p>
          <a:p>
            <a:pPr algn="just"/>
            <a:r>
              <a:rPr lang="en-US" sz="2800" dirty="0"/>
              <a:t>The forces are necessarily </a:t>
            </a:r>
            <a:r>
              <a:rPr lang="en-US" sz="2800" dirty="0">
                <a:solidFill>
                  <a:srgbClr val="C00000"/>
                </a:solidFill>
              </a:rPr>
              <a:t>equal, opposite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C00000"/>
                </a:solidFill>
              </a:rPr>
              <a:t>collinear</a:t>
            </a:r>
            <a:r>
              <a:rPr lang="en-US" sz="2800" dirty="0"/>
              <a:t>. </a:t>
            </a:r>
          </a:p>
          <a:p>
            <a:pPr lvl="0" algn="just"/>
            <a:endParaRPr lang="en-US" dirty="0">
              <a:solidFill>
                <a:srgbClr val="C00000"/>
              </a:solidFill>
            </a:endParaRPr>
          </a:p>
          <a:p>
            <a:pPr marL="0" lvl="0" indent="0" algn="just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86000"/>
            <a:ext cx="246543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55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810500" cy="533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Truss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560294"/>
            <a:ext cx="7858125" cy="6197600"/>
          </a:xfrm>
        </p:spPr>
        <p:txBody>
          <a:bodyPr lIns="91440" tIns="91440">
            <a:noAutofit/>
          </a:bodyPr>
          <a:lstStyle/>
          <a:p>
            <a:pPr marL="0" lvl="0" indent="0" algn="just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 in the force analysis of simple trusses 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members may be in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tension or compression.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tension or compression acting on the cut section is same for all sections.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weight must be taken to account, replace the weight W of the member by two forces each W/2, acting at each end</a:t>
            </a:r>
          </a:p>
          <a:p>
            <a:pPr lvl="0" algn="just"/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 is pin joint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forces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applied at the pin connections.   </a:t>
            </a:r>
          </a:p>
          <a:p>
            <a:pPr marL="0" lv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57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0"/>
            <a:ext cx="6705600" cy="9906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Force analysis of plane trusses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81200"/>
            <a:ext cx="7315200" cy="457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methods for the force analysis of simple trusses will be given.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external reactions are usually determined first from the equilibrium equations applied to the truss as a whole before the force analysis of the remainder of the truss.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38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6934200" cy="715963"/>
          </a:xfrm>
        </p:spPr>
        <p:txBody>
          <a:bodyPr/>
          <a:lstStyle/>
          <a:p>
            <a:r>
              <a:rPr lang="en-US" sz="4000" dirty="0"/>
              <a:t>Method Of Joint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1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81200" y="1143000"/>
                <a:ext cx="6934200" cy="5334000"/>
              </a:xfrm>
            </p:spPr>
            <p:txBody>
              <a:bodyPr/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method consists of 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satisfying the conditions of equilibrium for the forces acting on the connecting pin of each joint</a:t>
                </a:r>
                <a:r>
                  <a:rPr lang="en-US" sz="2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    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nary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method deals with the equilibrium of 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concurrent forces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hence only two independent equilibrium equations are involved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begin the analysis with any joint where at least one known load exists and where not more than two unknown forces are present</a:t>
                </a:r>
                <a:endParaRPr 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4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143000"/>
                <a:ext cx="6934200" cy="5334000"/>
              </a:xfrm>
              <a:blipFill rotWithShape="0">
                <a:blip r:embed="rId4"/>
                <a:stretch>
                  <a:fillRect l="-1845" t="-1257" r="-13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61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6934200" cy="715963"/>
          </a:xfrm>
        </p:spPr>
        <p:txBody>
          <a:bodyPr/>
          <a:lstStyle/>
          <a:p>
            <a:r>
              <a:rPr lang="en-US" sz="4000" dirty="0"/>
              <a:t>Print master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6934200" cy="42672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081" y="477044"/>
            <a:ext cx="3057525" cy="2047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2713459"/>
            <a:ext cx="2886075" cy="2019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9713" y="2403525"/>
            <a:ext cx="3486150" cy="25812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5562601" y="5042693"/>
            <a:ext cx="3243262" cy="1169193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Equilibrium conditions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must be satisfied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at each joint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255043" y="5042693"/>
            <a:ext cx="2133600" cy="1169193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External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Reactions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are 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calculated first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0066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FF006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97003" y="95201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  <a:tab pos="1219200" algn="l"/>
              </a:tabLst>
            </a:pPr>
            <a:r>
              <a:rPr lang="en-US" dirty="0">
                <a:latin typeface="Californian FB" panose="0207040306080B030204" pitchFamily="18" charset="0"/>
                <a:ea typeface="Times New Roman" panose="02020603050405020304" pitchFamily="18" charset="0"/>
              </a:rPr>
              <a:t>Taking free body diagram of a joint, </a:t>
            </a:r>
            <a:r>
              <a:rPr lang="en-US" dirty="0">
                <a:solidFill>
                  <a:srgbClr val="FF0066"/>
                </a:solidFill>
                <a:latin typeface="Californian FB" panose="0207040306080B030204" pitchFamily="18" charset="0"/>
                <a:ea typeface="Times New Roman" panose="02020603050405020304" pitchFamily="18" charset="0"/>
              </a:rPr>
              <a:t>tension will always be indicated by an arrow away from the pin,</a:t>
            </a:r>
            <a:r>
              <a:rPr lang="en-US" dirty="0">
                <a:latin typeface="Californian FB" panose="0207040306080B030204" pitchFamily="18" charset="0"/>
                <a:ea typeface="Times New Roman" panose="02020603050405020304" pitchFamily="18" charset="0"/>
              </a:rPr>
              <a:t> and </a:t>
            </a:r>
            <a:r>
              <a:rPr lang="en-US" dirty="0">
                <a:solidFill>
                  <a:srgbClr val="00B050"/>
                </a:solidFill>
                <a:latin typeface="Californian FB" panose="0207040306080B030204" pitchFamily="18" charset="0"/>
                <a:ea typeface="Times New Roman" panose="02020603050405020304" pitchFamily="18" charset="0"/>
              </a:rPr>
              <a:t>compression will always be indicated by an arrow toward the pin. </a:t>
            </a:r>
            <a:endParaRPr lang="en-US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4867275" y="341314"/>
            <a:ext cx="1" cy="6180506"/>
          </a:xfrm>
          <a:prstGeom prst="line">
            <a:avLst/>
          </a:prstGeom>
          <a:ln/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719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400" y="-30163"/>
            <a:ext cx="6934200" cy="715963"/>
          </a:xfrm>
        </p:spPr>
        <p:txBody>
          <a:bodyPr/>
          <a:lstStyle/>
          <a:p>
            <a:r>
              <a:rPr lang="en-US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1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30400" y="685800"/>
                <a:ext cx="7035800" cy="5966618"/>
              </a:xfrm>
            </p:spPr>
            <p:txBody>
              <a:bodyPr/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2800" dirty="0">
                    <a:solidFill>
                      <a:srgbClr val="00B050"/>
                    </a:solidFill>
                  </a:rPr>
                  <a:t>Determine the force in each member of the truss. If P1 = 0KN and P2 = 1000KN and   a = b = 10m 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2400" dirty="0">
                    <a:solidFill>
                      <a:srgbClr val="00B050"/>
                    </a:solidFill>
                  </a:rPr>
                  <a:t>Solution: </a:t>
                </a:r>
                <a:r>
                  <a:rPr lang="en-US" sz="2400" dirty="0"/>
                  <a:t>Determine the external reactions 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=0;         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=1000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𝐾𝑁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 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−1000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=667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=333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4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0400" y="685800"/>
                <a:ext cx="7035800" cy="5966618"/>
              </a:xfrm>
              <a:blipFill rotWithShape="0">
                <a:blip r:embed="rId4"/>
                <a:stretch>
                  <a:fillRect l="-7279" t="-2556" r="-1646" b="-20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1752600"/>
            <a:ext cx="49720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85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2700"/>
            <a:ext cx="7315200" cy="533400"/>
          </a:xfrm>
        </p:spPr>
        <p:txBody>
          <a:bodyPr/>
          <a:lstStyle/>
          <a:p>
            <a:r>
              <a:rPr lang="en-US" dirty="0"/>
              <a:t>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838200"/>
            <a:ext cx="7315200" cy="5638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Equilibrium equation at joint A 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Equilibrium equation at joint B 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438275"/>
            <a:ext cx="2324100" cy="2219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95562" y="1438275"/>
                <a:ext cx="1171666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562" y="1438275"/>
                <a:ext cx="1171666" cy="745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64072" y="2263774"/>
                <a:ext cx="26831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072" y="2263774"/>
                <a:ext cx="2683170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773" r="-455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442610" y="2229852"/>
                <a:ext cx="21301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=−471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610" y="2229852"/>
                <a:ext cx="2130199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4585" r="-860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97738" y="2763253"/>
                <a:ext cx="1198340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738" y="2763253"/>
                <a:ext cx="1198340" cy="745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41289" y="3628414"/>
                <a:ext cx="2795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289" y="3628414"/>
                <a:ext cx="2795189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3268" r="-436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19734" y="3628414"/>
                <a:ext cx="19019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=333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734" y="3628414"/>
                <a:ext cx="1901931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5449" r="-321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4429125"/>
            <a:ext cx="2609850" cy="2305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634672" y="4842310"/>
                <a:ext cx="2741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=333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672" y="4842310"/>
                <a:ext cx="2741969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3333" r="-222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360245" y="5350817"/>
                <a:ext cx="17643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245" y="5350817"/>
                <a:ext cx="1764329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345"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486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2700"/>
            <a:ext cx="7315200" cy="533400"/>
          </a:xfrm>
        </p:spPr>
        <p:txBody>
          <a:bodyPr/>
          <a:lstStyle/>
          <a:p>
            <a:r>
              <a:rPr lang="en-US" dirty="0"/>
              <a:t>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838200"/>
            <a:ext cx="8115300" cy="5638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Equilibrium equation at joint D 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Equilibrium equation at joint C 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012684" y="1427656"/>
                <a:ext cx="1171666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684" y="1427656"/>
                <a:ext cx="1171666" cy="745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05572" y="1560084"/>
                <a:ext cx="27230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𝐷𝐸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572" y="1560084"/>
                <a:ext cx="2723053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698" r="-447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87361" y="2215829"/>
                <a:ext cx="19232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=667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361" y="2215829"/>
                <a:ext cx="1923219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5079" r="-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57406" y="2528035"/>
                <a:ext cx="1198340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406" y="2528035"/>
                <a:ext cx="1198340" cy="745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07550" y="3392286"/>
                <a:ext cx="28494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𝐷𝐸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550" y="3392286"/>
                <a:ext cx="284943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212" r="-642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01469" y="3389111"/>
                <a:ext cx="21455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=−943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469" y="3389111"/>
                <a:ext cx="2145524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261" r="-56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13073" y="4681278"/>
                <a:ext cx="36152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𝐵𝑐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45=0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073" y="4681278"/>
                <a:ext cx="361522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530" r="-16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022447" y="5189060"/>
                <a:ext cx="20881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=471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447" y="5189060"/>
                <a:ext cx="2088136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2547" y="4558743"/>
            <a:ext cx="2285003" cy="218396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036" y="1385035"/>
            <a:ext cx="2409825" cy="228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933266" y="4555942"/>
                <a:ext cx="1164101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266" y="4555942"/>
                <a:ext cx="1164101" cy="745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828017" y="5723958"/>
                <a:ext cx="1356333" cy="837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017" y="5723958"/>
                <a:ext cx="1356333" cy="837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48687" y="5914511"/>
                <a:ext cx="34467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𝐶𝐺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45=0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87" y="5914511"/>
                <a:ext cx="3446777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3009" r="-531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111569" y="6316796"/>
                <a:ext cx="20597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=667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569" y="6316796"/>
                <a:ext cx="2059731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297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690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2700"/>
            <a:ext cx="7315200" cy="533400"/>
          </a:xfrm>
        </p:spPr>
        <p:txBody>
          <a:bodyPr/>
          <a:lstStyle/>
          <a:p>
            <a:r>
              <a:rPr lang="en-US" dirty="0"/>
              <a:t>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838200"/>
            <a:ext cx="8115300" cy="5638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Equilibrium equation at joint E 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50347" y="1758357"/>
                <a:ext cx="1198340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347" y="1758357"/>
                <a:ext cx="1198340" cy="745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252751" y="2592066"/>
                <a:ext cx="28446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𝐷𝐸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751" y="2592066"/>
                <a:ext cx="284462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3433" r="-429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242716" y="3225184"/>
                <a:ext cx="21407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=−667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716" y="3225184"/>
                <a:ext cx="2140714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274" r="-570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004" y="1521984"/>
            <a:ext cx="2863405" cy="228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25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7035800" cy="715963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of Section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143000"/>
            <a:ext cx="7035800" cy="519033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advantages of the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or moment equation of equilibrium.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has the basic advantage that the force in almost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desired member may be found directly from an analysis of a section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has cut that member 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more than three members whose forces are unknown may be cut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572000"/>
            <a:ext cx="2362200" cy="2019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4673600"/>
            <a:ext cx="3352800" cy="194310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 bwMode="auto">
          <a:xfrm>
            <a:off x="4572000" y="5181600"/>
            <a:ext cx="609600" cy="463550"/>
          </a:xfrm>
          <a:prstGeom prst="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484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65300" y="50800"/>
            <a:ext cx="7035800" cy="715963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of Section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765300" y="766763"/>
            <a:ext cx="7315200" cy="59436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Important Considerations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8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portion of the truss is considered a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body in equilibrium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Thus, the forces in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internal to the section are not involved in the analysis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8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is preferably passed through the members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not the joints.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sections and joints can be combined for an efficient solution.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moment equations are used to great advantage in the method of sections. One should choose a moment center, either on or off the section, through which as many unknown forces as possible pass.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57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3019"/>
            <a:ext cx="6934200" cy="715963"/>
          </a:xfrm>
        </p:spPr>
        <p:txBody>
          <a:bodyPr/>
          <a:lstStyle/>
          <a:p>
            <a:r>
              <a:rPr lang="en-US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1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30400" y="685800"/>
                <a:ext cx="7035800" cy="5966618"/>
              </a:xfrm>
            </p:spPr>
            <p:txBody>
              <a:bodyPr/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2800" dirty="0">
                    <a:solidFill>
                      <a:srgbClr val="00B050"/>
                    </a:solidFill>
                  </a:rPr>
                  <a:t>Determine the force in member GC of the truss. If P1 = 0KN and P2 = 1000KN and   a = b = 10m 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2400" dirty="0">
                    <a:solidFill>
                      <a:srgbClr val="00B050"/>
                    </a:solidFill>
                  </a:rPr>
                  <a:t>Solution: </a:t>
                </a:r>
                <a:r>
                  <a:rPr lang="en-US" sz="2400" dirty="0"/>
                  <a:t>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determine the external reactions 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=0;         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=1000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𝐾𝑁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 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−1000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=667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=333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4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0400" y="685800"/>
                <a:ext cx="7035800" cy="5966618"/>
              </a:xfrm>
              <a:blipFill rotWithShape="0">
                <a:blip r:embed="rId4"/>
                <a:stretch>
                  <a:fillRect l="-7279" t="-2556" b="-20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1752600"/>
            <a:ext cx="49720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22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2700"/>
            <a:ext cx="7315200" cy="533400"/>
          </a:xfrm>
        </p:spPr>
        <p:txBody>
          <a:bodyPr/>
          <a:lstStyle/>
          <a:p>
            <a:r>
              <a:rPr lang="en-US" dirty="0"/>
              <a:t>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838200"/>
            <a:ext cx="7315200" cy="5638800"/>
          </a:xfrm>
        </p:spPr>
        <p:txBody>
          <a:bodyPr/>
          <a:lstStyle/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35862" y="4056459"/>
                <a:ext cx="1272015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862" y="4056459"/>
                <a:ext cx="1272015" cy="745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470368" y="4769971"/>
                <a:ext cx="53297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𝐺𝑐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(10)=0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368" y="4769971"/>
                <a:ext cx="5329792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171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187397" y="3553747"/>
                <a:ext cx="19082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=333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97" y="3553747"/>
                <a:ext cx="1908279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5112" r="-63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77114" y="2417550"/>
                <a:ext cx="5452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114" y="2417550"/>
                <a:ext cx="545214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0225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457668" y="5986195"/>
                <a:ext cx="20881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=471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668" y="5986195"/>
                <a:ext cx="2088136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113" y="1565275"/>
            <a:ext cx="2581275" cy="257175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V="1">
            <a:off x="3429000" y="1828800"/>
            <a:ext cx="512748" cy="1"/>
          </a:xfrm>
          <a:prstGeom prst="straightConnector1">
            <a:avLst/>
          </a:prstGeom>
          <a:ln>
            <a:tailEnd type="triangle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 bwMode="auto">
          <a:xfrm>
            <a:off x="3429000" y="2489926"/>
            <a:ext cx="348885" cy="413109"/>
          </a:xfrm>
          <a:prstGeom prst="straightConnector1">
            <a:avLst/>
          </a:prstGeom>
          <a:ln>
            <a:tailEnd type="triangle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 bwMode="auto">
          <a:xfrm flipV="1">
            <a:off x="3440763" y="3141448"/>
            <a:ext cx="512748" cy="1"/>
          </a:xfrm>
          <a:prstGeom prst="straightConnector1">
            <a:avLst/>
          </a:prstGeom>
          <a:ln>
            <a:tailEnd type="triangle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837549" y="3113032"/>
                <a:ext cx="5500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549" y="3113032"/>
                <a:ext cx="550022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0000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812338" y="1400652"/>
                <a:ext cx="5521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𝐺𝐸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338" y="1400652"/>
                <a:ext cx="552139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1868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187397" y="1560989"/>
                <a:ext cx="1274516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97" y="1560989"/>
                <a:ext cx="1274516" cy="745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072783" y="2301614"/>
                <a:ext cx="32793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(10)=0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783" y="2301614"/>
                <a:ext cx="3279359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1115" r="-372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187397" y="2927247"/>
                <a:ext cx="3187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333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(10)=0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97" y="2927247"/>
                <a:ext cx="3187539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2868" r="-382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70368" y="5407160"/>
                <a:ext cx="55792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333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𝐺𝑐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−333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(10)=0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368" y="5407160"/>
                <a:ext cx="5579220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1421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102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848600" cy="53340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4.2.2 Space Truss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609600"/>
            <a:ext cx="8001000" cy="59150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 truss is the three dimensional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counterpart of plane truss.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truss require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bars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joined at their end to form the edges of tetrahedron as the basic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noncollapsible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space truss formed by tetrahedrons is called a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space truss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352800"/>
            <a:ext cx="200977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85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6934200" cy="715963"/>
          </a:xfrm>
        </p:spPr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Method Of Joint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1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81200" y="868363"/>
                <a:ext cx="6934200" cy="2713037"/>
              </a:xfrm>
            </p:spPr>
            <p:txBody>
              <a:bodyPr/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method developed for plane trusses may be extended directly to space trusses</a:t>
                </a:r>
                <a:r>
                  <a:rPr lang="en-US" sz="2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          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nary>
                    <m:r>
                      <a:rPr lang="en-US" sz="2400" b="1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Utilizes only the three force equilibrium equations</a:t>
                </a:r>
              </a:p>
            </p:txBody>
          </p:sp>
        </mc:Choice>
        <mc:Fallback xmlns="">
          <p:sp>
            <p:nvSpPr>
              <p:cNvPr id="604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868363"/>
                <a:ext cx="6934200" cy="2713037"/>
              </a:xfrm>
              <a:blipFill rotWithShape="0">
                <a:blip r:embed="rId4"/>
                <a:stretch>
                  <a:fillRect l="-1582" t="-2242" r="-5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93900" y="3739356"/>
            <a:ext cx="6934200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r>
              <a:rPr lang="en-US" sz="4000" dirty="0">
                <a:solidFill>
                  <a:srgbClr val="0070C0"/>
                </a:solidFill>
              </a:rPr>
              <a:t>Method Of Sections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1993900" y="4455319"/>
                <a:ext cx="6934200" cy="2133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method may also be extended directly to space trusses</a:t>
                </a:r>
                <a:r>
                  <a:rPr lang="en-US" sz="2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          </a:t>
                </a:r>
              </a:p>
              <a:p>
                <a:pPr marL="0" indent="0" algn="ctr">
                  <a:buFontTx/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nary>
                    <m:r>
                      <a:rPr lang="en-US" sz="2400" b="1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sz="2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1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nary>
                    <m:r>
                      <a:rPr lang="en-US" sz="2400" b="1" i="1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Utilizes all the equilibrium equations</a:t>
                </a:r>
              </a:p>
              <a:p>
                <a:endParaRPr lang="en-US" sz="24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3900" y="4455319"/>
                <a:ext cx="6934200" cy="2133600"/>
              </a:xfrm>
              <a:prstGeom prst="rect">
                <a:avLst/>
              </a:prstGeom>
              <a:blipFill rotWithShape="0">
                <a:blip r:embed="rId5"/>
                <a:stretch>
                  <a:fillRect l="-1582" t="-3143" b="-77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268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315200" cy="5334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4.3 Frames and Machines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762000"/>
            <a:ext cx="7886700" cy="5943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 is called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or machine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at least one of its individual members is a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multiforce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multiforce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one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or more forces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acting on it or one with two or more forces and one or more couples acting on 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frames and machines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mutliforce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members, the forces in these members in general will not be in the direction of the members.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2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315200" cy="5334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4.3 Frames and Machines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762000"/>
            <a:ext cx="7886700" cy="5943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structures which are designed to support applied loads and are usually fixed in position.</a:t>
            </a:r>
          </a:p>
          <a:p>
            <a:pPr lvl="0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structures which contain moving parts and are designed to transmit forces or couples from input values to output values.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unlike the previous chapter, which deals with equilibrium of single rigid body, concentrate 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 of  interconnected rigid bodies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38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92300" y="-25400"/>
            <a:ext cx="7035800" cy="715963"/>
          </a:xfrm>
        </p:spPr>
        <p:txBody>
          <a:bodyPr/>
          <a:lstStyle/>
          <a:p>
            <a:r>
              <a:rPr lang="en-US" sz="4000" dirty="0"/>
              <a:t> </a:t>
            </a:r>
            <a:r>
              <a:rPr lang="en-US" sz="4000" dirty="0">
                <a:solidFill>
                  <a:srgbClr val="0070C0"/>
                </a:solidFill>
              </a:rPr>
              <a:t>Frames and Machines</a:t>
            </a:r>
            <a:endParaRPr lang="en-US" sz="40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892300" y="609600"/>
            <a:ext cx="7035800" cy="5495130"/>
          </a:xfrm>
        </p:spPr>
        <p:txBody>
          <a:bodyPr/>
          <a:lstStyle/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forces acting on each member of a connected system are found by isolating the member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free-body diagram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applying the established equations of equilibrium.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action and reaction must be carefully observed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we represent the forces of interaction on the separate free-body diagrams.</a:t>
            </a:r>
          </a:p>
          <a:p>
            <a:pPr>
              <a:lnSpc>
                <a:spcPct val="8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508500"/>
            <a:ext cx="2025431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51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8686800" cy="53340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0" y="914400"/>
            <a:ext cx="8077200" cy="5867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frame or machine constitutes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rigid unit by itself when removed from its supports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analysis is best begun by establishing all the forces external to the structure considered as </a:t>
            </a:r>
            <a:r>
              <a:rPr lang="en-US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rigid body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848100"/>
            <a:ext cx="394467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35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8686800" cy="53340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Cont..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8077200" cy="5867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structure is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 rigid unit by itself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depends on its external supports for rigidity, as in the figure below, then </a:t>
            </a:r>
            <a:r>
              <a:rPr lang="en-US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calculation of the external support reactions cannot be completed until the structure is dismembered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individual parts are analyzed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862" y="4489450"/>
            <a:ext cx="35718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40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686800" cy="5334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Cont..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85800"/>
            <a:ext cx="8001000" cy="5486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always possible to assign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force or its components in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sense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any event it is absolutely necessary that a force be consistently represented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diagrams for interacting bodies,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886200"/>
            <a:ext cx="34766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40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3047999"/>
            <a:ext cx="7315200" cy="2619375"/>
          </a:xfrm>
        </p:spPr>
        <p:txBody>
          <a:bodyPr/>
          <a:lstStyle/>
          <a:p>
            <a:pPr marL="0" indent="0">
              <a:buNone/>
            </a:pPr>
            <a:r>
              <a:rPr lang="en-US" sz="6600" b="1" dirty="0">
                <a:latin typeface="French Script MT" panose="03020402040607040605" pitchFamily="66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57982075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-template-24">
  <a:themeElements>
    <a:clrScheme name="powerpoint-template-24 7">
      <a:dk1>
        <a:srgbClr val="4D4D4D"/>
      </a:dk1>
      <a:lt1>
        <a:srgbClr val="FFFFFF"/>
      </a:lt1>
      <a:dk2>
        <a:srgbClr val="4D4D4D"/>
      </a:dk2>
      <a:lt2>
        <a:srgbClr val="888888"/>
      </a:lt2>
      <a:accent1>
        <a:srgbClr val="9E9E9E"/>
      </a:accent1>
      <a:accent2>
        <a:srgbClr val="BEBEBE"/>
      </a:accent2>
      <a:accent3>
        <a:srgbClr val="FFFFFF"/>
      </a:accent3>
      <a:accent4>
        <a:srgbClr val="404040"/>
      </a:accent4>
      <a:accent5>
        <a:srgbClr val="CCCCCC"/>
      </a:accent5>
      <a:accent6>
        <a:srgbClr val="ACACAC"/>
      </a:accent6>
      <a:hlink>
        <a:srgbClr val="C8C8C8"/>
      </a:hlink>
      <a:folHlink>
        <a:srgbClr val="DDDDDD"/>
      </a:folHlink>
    </a:clrScheme>
    <a:fontScheme name="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owerpoint-template-24 1">
        <a:dk1>
          <a:srgbClr val="4D4D4D"/>
        </a:dk1>
        <a:lt1>
          <a:srgbClr val="FFFFFF"/>
        </a:lt1>
        <a:dk2>
          <a:srgbClr val="4D4D4D"/>
        </a:dk2>
        <a:lt2>
          <a:srgbClr val="0C209B"/>
        </a:lt2>
        <a:accent1>
          <a:srgbClr val="2167BF"/>
        </a:accent1>
        <a:accent2>
          <a:srgbClr val="C60C0D"/>
        </a:accent2>
        <a:accent3>
          <a:srgbClr val="FFFFFF"/>
        </a:accent3>
        <a:accent4>
          <a:srgbClr val="404040"/>
        </a:accent4>
        <a:accent5>
          <a:srgbClr val="ABB8DC"/>
        </a:accent5>
        <a:accent6>
          <a:srgbClr val="B30A0B"/>
        </a:accent6>
        <a:hlink>
          <a:srgbClr val="4793C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2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3">
        <a:dk1>
          <a:srgbClr val="4D4D4D"/>
        </a:dk1>
        <a:lt1>
          <a:srgbClr val="FFFFFF"/>
        </a:lt1>
        <a:dk2>
          <a:srgbClr val="4D4D4D"/>
        </a:dk2>
        <a:lt2>
          <a:srgbClr val="0E0F83"/>
        </a:lt2>
        <a:accent1>
          <a:srgbClr val="4049D2"/>
        </a:accent1>
        <a:accent2>
          <a:srgbClr val="494FD9"/>
        </a:accent2>
        <a:accent3>
          <a:srgbClr val="FFFFFF"/>
        </a:accent3>
        <a:accent4>
          <a:srgbClr val="404040"/>
        </a:accent4>
        <a:accent5>
          <a:srgbClr val="AFB1E5"/>
        </a:accent5>
        <a:accent6>
          <a:srgbClr val="4147C4"/>
        </a:accent6>
        <a:hlink>
          <a:srgbClr val="757DD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4">
        <a:dk1>
          <a:srgbClr val="4D4D4D"/>
        </a:dk1>
        <a:lt1>
          <a:srgbClr val="FFFFFF"/>
        </a:lt1>
        <a:dk2>
          <a:srgbClr val="4D4D4D"/>
        </a:dk2>
        <a:lt2>
          <a:srgbClr val="4B8ACD"/>
        </a:lt2>
        <a:accent1>
          <a:srgbClr val="5C98C2"/>
        </a:accent1>
        <a:accent2>
          <a:srgbClr val="93BAD6"/>
        </a:accent2>
        <a:accent3>
          <a:srgbClr val="FFFFFF"/>
        </a:accent3>
        <a:accent4>
          <a:srgbClr val="404040"/>
        </a:accent4>
        <a:accent5>
          <a:srgbClr val="B5CADD"/>
        </a:accent5>
        <a:accent6>
          <a:srgbClr val="85A8C2"/>
        </a:accent6>
        <a:hlink>
          <a:srgbClr val="AECDE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5">
        <a:dk1>
          <a:srgbClr val="4D4D4D"/>
        </a:dk1>
        <a:lt1>
          <a:srgbClr val="FFFFFF"/>
        </a:lt1>
        <a:dk2>
          <a:srgbClr val="4D4D4D"/>
        </a:dk2>
        <a:lt2>
          <a:srgbClr val="114682"/>
        </a:lt2>
        <a:accent1>
          <a:srgbClr val="295B99"/>
        </a:accent1>
        <a:accent2>
          <a:srgbClr val="406DA6"/>
        </a:accent2>
        <a:accent3>
          <a:srgbClr val="FFFFFF"/>
        </a:accent3>
        <a:accent4>
          <a:srgbClr val="404040"/>
        </a:accent4>
        <a:accent5>
          <a:srgbClr val="ACB5CA"/>
        </a:accent5>
        <a:accent6>
          <a:srgbClr val="396296"/>
        </a:accent6>
        <a:hlink>
          <a:srgbClr val="5F84B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6">
        <a:dk1>
          <a:srgbClr val="4D4D4D"/>
        </a:dk1>
        <a:lt1>
          <a:srgbClr val="FFFFFF"/>
        </a:lt1>
        <a:dk2>
          <a:srgbClr val="4D4D4D"/>
        </a:dk2>
        <a:lt2>
          <a:srgbClr val="617180"/>
        </a:lt2>
        <a:accent1>
          <a:srgbClr val="85919F"/>
        </a:accent1>
        <a:accent2>
          <a:srgbClr val="96A3AF"/>
        </a:accent2>
        <a:accent3>
          <a:srgbClr val="FFFFFF"/>
        </a:accent3>
        <a:accent4>
          <a:srgbClr val="404040"/>
        </a:accent4>
        <a:accent5>
          <a:srgbClr val="C2C7CD"/>
        </a:accent5>
        <a:accent6>
          <a:srgbClr val="87939E"/>
        </a:accent6>
        <a:hlink>
          <a:srgbClr val="AFB9C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7">
        <a:dk1>
          <a:srgbClr val="4D4D4D"/>
        </a:dk1>
        <a:lt1>
          <a:srgbClr val="FFFFFF"/>
        </a:lt1>
        <a:dk2>
          <a:srgbClr val="4D4D4D"/>
        </a:dk2>
        <a:lt2>
          <a:srgbClr val="888888"/>
        </a:lt2>
        <a:accent1>
          <a:srgbClr val="9E9E9E"/>
        </a:accent1>
        <a:accent2>
          <a:srgbClr val="BEBEBE"/>
        </a:accent2>
        <a:accent3>
          <a:srgbClr val="FFFFFF"/>
        </a:accent3>
        <a:accent4>
          <a:srgbClr val="404040"/>
        </a:accent4>
        <a:accent5>
          <a:srgbClr val="CCCCCC"/>
        </a:accent5>
        <a:accent6>
          <a:srgbClr val="ACACAC"/>
        </a:accent6>
        <a:hlink>
          <a:srgbClr val="C8C8C8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8">
        <a:dk1>
          <a:srgbClr val="4D4D4D"/>
        </a:dk1>
        <a:lt1>
          <a:srgbClr val="FFFFFF"/>
        </a:lt1>
        <a:dk2>
          <a:srgbClr val="4D4D4D"/>
        </a:dk2>
        <a:lt2>
          <a:srgbClr val="888888"/>
        </a:lt2>
        <a:accent1>
          <a:srgbClr val="9E9E9E"/>
        </a:accent1>
        <a:accent2>
          <a:srgbClr val="BEBEBE"/>
        </a:accent2>
        <a:accent3>
          <a:srgbClr val="FFFFFF"/>
        </a:accent3>
        <a:accent4>
          <a:srgbClr val="404040"/>
        </a:accent4>
        <a:accent5>
          <a:srgbClr val="CCCCCC"/>
        </a:accent5>
        <a:accent6>
          <a:srgbClr val="ACACAC"/>
        </a:accent6>
        <a:hlink>
          <a:srgbClr val="F200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9">
        <a:dk1>
          <a:srgbClr val="4D4D4D"/>
        </a:dk1>
        <a:lt1>
          <a:srgbClr val="FFFFFF"/>
        </a:lt1>
        <a:dk2>
          <a:srgbClr val="4D4D4D"/>
        </a:dk2>
        <a:lt2>
          <a:srgbClr val="888888"/>
        </a:lt2>
        <a:accent1>
          <a:srgbClr val="9E9E9E"/>
        </a:accent1>
        <a:accent2>
          <a:srgbClr val="BEBEBE"/>
        </a:accent2>
        <a:accent3>
          <a:srgbClr val="FFFFFF"/>
        </a:accent3>
        <a:accent4>
          <a:srgbClr val="404040"/>
        </a:accent4>
        <a:accent5>
          <a:srgbClr val="CCCCCC"/>
        </a:accent5>
        <a:accent6>
          <a:srgbClr val="ACACAC"/>
        </a:accent6>
        <a:hlink>
          <a:srgbClr val="D000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0">
        <a:dk1>
          <a:srgbClr val="4D4D4D"/>
        </a:dk1>
        <a:lt1>
          <a:srgbClr val="FFFFFF"/>
        </a:lt1>
        <a:dk2>
          <a:srgbClr val="4D4D4D"/>
        </a:dk2>
        <a:lt2>
          <a:srgbClr val="888888"/>
        </a:lt2>
        <a:accent1>
          <a:srgbClr val="9E9E9E"/>
        </a:accent1>
        <a:accent2>
          <a:srgbClr val="BEBEBE"/>
        </a:accent2>
        <a:accent3>
          <a:srgbClr val="FFFFFF"/>
        </a:accent3>
        <a:accent4>
          <a:srgbClr val="404040"/>
        </a:accent4>
        <a:accent5>
          <a:srgbClr val="CCCCCC"/>
        </a:accent5>
        <a:accent6>
          <a:srgbClr val="ACACAC"/>
        </a:accent6>
        <a:hlink>
          <a:srgbClr val="397AF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1">
        <a:dk1>
          <a:srgbClr val="4D4D4D"/>
        </a:dk1>
        <a:lt1>
          <a:srgbClr val="FFFFFF"/>
        </a:lt1>
        <a:dk2>
          <a:srgbClr val="4D4D4D"/>
        </a:dk2>
        <a:lt2>
          <a:srgbClr val="888888"/>
        </a:lt2>
        <a:accent1>
          <a:srgbClr val="9E9E9E"/>
        </a:accent1>
        <a:accent2>
          <a:srgbClr val="BEBEBE"/>
        </a:accent2>
        <a:accent3>
          <a:srgbClr val="FFFFFF"/>
        </a:accent3>
        <a:accent4>
          <a:srgbClr val="404040"/>
        </a:accent4>
        <a:accent5>
          <a:srgbClr val="CCCCCC"/>
        </a:accent5>
        <a:accent6>
          <a:srgbClr val="ACACAC"/>
        </a:accent6>
        <a:hlink>
          <a:srgbClr val="3892FE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1456</TotalTime>
  <Words>1406</Words>
  <Application>Microsoft Office PowerPoint</Application>
  <PresentationFormat>On-screen Show (4:3)</PresentationFormat>
  <Paragraphs>221</Paragraphs>
  <Slides>32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Californian FB</vt:lpstr>
      <vt:lpstr>Cambria Math</vt:lpstr>
      <vt:lpstr>French Script MT</vt:lpstr>
      <vt:lpstr>Microsoft Sans Serif</vt:lpstr>
      <vt:lpstr>Times New Roman</vt:lpstr>
      <vt:lpstr>powerpoint-template-24</vt:lpstr>
      <vt:lpstr>Structures </vt:lpstr>
      <vt:lpstr>Content </vt:lpstr>
      <vt:lpstr>4.1 Introduction </vt:lpstr>
      <vt:lpstr>4.2 Trusses </vt:lpstr>
      <vt:lpstr>Roof Truss </vt:lpstr>
      <vt:lpstr>Commonly Used Roof Trusses </vt:lpstr>
      <vt:lpstr>Tokyo Gate Bridge, a 2.6km long truss bridge </vt:lpstr>
      <vt:lpstr>Commonly Used Bridge Trusses</vt:lpstr>
      <vt:lpstr>Derricks  </vt:lpstr>
      <vt:lpstr>Simple Truss</vt:lpstr>
      <vt:lpstr>Simple Truss</vt:lpstr>
      <vt:lpstr>Simple Truss</vt:lpstr>
      <vt:lpstr>Force analysis of plane trusses</vt:lpstr>
      <vt:lpstr>Method Of Joint </vt:lpstr>
      <vt:lpstr>Print master</vt:lpstr>
      <vt:lpstr>Example </vt:lpstr>
      <vt:lpstr>Solution </vt:lpstr>
      <vt:lpstr>Solution </vt:lpstr>
      <vt:lpstr>Solution </vt:lpstr>
      <vt:lpstr>Method of Section </vt:lpstr>
      <vt:lpstr>Method of Section </vt:lpstr>
      <vt:lpstr>Example </vt:lpstr>
      <vt:lpstr>Solution </vt:lpstr>
      <vt:lpstr>4.2.2 Space Truss </vt:lpstr>
      <vt:lpstr>Method Of Joint </vt:lpstr>
      <vt:lpstr>4.3 Frames and Machines  </vt:lpstr>
      <vt:lpstr>4.3 Frames and Machines  </vt:lpstr>
      <vt:lpstr> Frames and Machines</vt:lpstr>
      <vt:lpstr>Cont..</vt:lpstr>
      <vt:lpstr>Cont.. </vt:lpstr>
      <vt:lpstr>Cont..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creator>User</dc:creator>
  <cp:lastModifiedBy>Eskindir</cp:lastModifiedBy>
  <cp:revision>103</cp:revision>
  <dcterms:created xsi:type="dcterms:W3CDTF">2015-10-12T19:55:38Z</dcterms:created>
  <dcterms:modified xsi:type="dcterms:W3CDTF">2022-04-03T16:43:16Z</dcterms:modified>
</cp:coreProperties>
</file>