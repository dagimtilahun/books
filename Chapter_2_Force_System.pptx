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8"/>
  </p:notesMasterIdLst>
  <p:handoutMasterIdLst>
    <p:handoutMasterId r:id="rId39"/>
  </p:handoutMasterIdLst>
  <p:sldIdLst>
    <p:sldId id="256" r:id="rId2"/>
    <p:sldId id="261" r:id="rId3"/>
    <p:sldId id="265" r:id="rId4"/>
    <p:sldId id="259" r:id="rId5"/>
    <p:sldId id="285" r:id="rId6"/>
    <p:sldId id="284" r:id="rId7"/>
    <p:sldId id="286" r:id="rId8"/>
    <p:sldId id="288" r:id="rId9"/>
    <p:sldId id="311" r:id="rId10"/>
    <p:sldId id="291" r:id="rId11"/>
    <p:sldId id="270" r:id="rId12"/>
    <p:sldId id="273" r:id="rId13"/>
    <p:sldId id="272" r:id="rId14"/>
    <p:sldId id="274" r:id="rId15"/>
    <p:sldId id="275" r:id="rId16"/>
    <p:sldId id="276" r:id="rId17"/>
    <p:sldId id="277" r:id="rId18"/>
    <p:sldId id="279" r:id="rId19"/>
    <p:sldId id="289" r:id="rId20"/>
    <p:sldId id="292" r:id="rId21"/>
    <p:sldId id="295" r:id="rId22"/>
    <p:sldId id="296" r:id="rId23"/>
    <p:sldId id="293" r:id="rId24"/>
    <p:sldId id="297" r:id="rId25"/>
    <p:sldId id="299" r:id="rId26"/>
    <p:sldId id="319" r:id="rId27"/>
    <p:sldId id="280" r:id="rId28"/>
    <p:sldId id="281" r:id="rId29"/>
    <p:sldId id="282" r:id="rId30"/>
    <p:sldId id="283" r:id="rId31"/>
    <p:sldId id="298" r:id="rId32"/>
    <p:sldId id="300" r:id="rId33"/>
    <p:sldId id="301" r:id="rId34"/>
    <p:sldId id="302" r:id="rId35"/>
    <p:sldId id="304" r:id="rId36"/>
    <p:sldId id="305" r:id="rId3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3399"/>
    <a:srgbClr val="F7E289"/>
    <a:srgbClr val="FF9E1D"/>
    <a:srgbClr val="004841"/>
    <a:srgbClr val="00603B"/>
    <a:srgbClr val="00DA87"/>
    <a:srgbClr val="157FFF"/>
    <a:srgbClr val="D68B1C"/>
    <a:srgbClr val="D096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2" autoAdjust="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AFDD132-392E-4165-930C-500BF1766295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D663A39-431E-478E-8B12-5B399A28B3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44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A219B41-3FD9-4565-ACEC-61FABC85A5ED}" type="datetimeFigureOut">
              <a:rPr lang="en-US" smtClean="0"/>
              <a:t>2/14/2023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D991913F-FAB0-46AE-8ED3-8EBECE64A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0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 in the </a:t>
            </a:r>
            <a:r>
              <a:rPr lang="en-US" dirty="0" err="1"/>
              <a:t>zam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91913F-FAB0-46AE-8ED3-8EBECE64A3D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9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0E7955-558E-4CAA-845E-7A6FF1B6D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1EC73E7-BE8A-430E-B7B0-F6ADED613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F2FF09C-4C5A-49C0-8D9E-5DB9C720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4D9C7C-548E-40E3-9382-05ED653D5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4E89097-2AE2-46E1-9FE5-EC80DF054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13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40DC1B6-A627-4BCF-B6E1-65FDDA268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3061195-FCE0-4B80-8B00-2D847A990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F637FCC-DCF6-4662-841B-177A9C3C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78B541E-4441-4DC0-B89F-64800AE22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6065838-024D-4804-BE96-425CBF2F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41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B43D168-666C-463C-BA20-6813FB5D6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9D23886-43ED-46EE-9D18-3E46DD4B7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ADD490-ED46-4A3A-AC33-FD34377E2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3FBCDD6-E142-48EF-8A35-256ECFE3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5C7994-BBE6-42C3-BD8D-AED9D2BC4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255C0F-D74F-431C-92C9-1AEA32B57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5393AC9-276D-4334-8A30-C19B57D26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A1CD92E-27E0-48F4-A3ED-8C22073C5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3AC5AF5-D829-4DE6-BA06-97B8E638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BEB7377-90A5-4C72-BFAB-7D7D9C19B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2D33A83-9877-4B20-96E4-8FE8AA70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17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914C3D-DAAC-4390-9B1B-1AE8120EF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C9EF053-0DE2-4BD3-8C8F-A973239D3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D935256-1906-4217-BBCA-920B6ADD5E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32DD89C-384C-4ACA-AACD-4F15BC821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F63805C-FBD9-4788-AAE8-C14552884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095FEB4A-5E30-4E3B-A97F-63E53161A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5E09AB2D-09D9-4AA6-86AD-AF18AD7E0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3B00F95E-3136-4A3C-8E52-E0E31D71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981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9A0A780-D599-40C2-8DB1-EBD9E512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4D466EB4-5805-4FAC-8BAA-930D2475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94332772-B652-4F9F-BBAA-34986262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B9572E5-0E10-4955-ACDD-C856914B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31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41106361-BE31-4CC0-82CA-3FD7D658E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6433161-0926-4FEE-90C5-D02AA0D4D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DDEA904-60AC-471F-ADA9-1F405909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5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EEDD97F-8551-46E4-B3B5-63D71E7D9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98510BA-920D-4BCA-8F66-66D8C754D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D43CA69-652E-4795-9D58-80B890610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DE01B10-B8DA-4CA3-AF49-CDA22D2DD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B7E38AE-8D85-42FC-8A34-7AC1284F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E2F0593-4C99-42A1-BBAA-32A25C93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67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2FD85F-EC5E-4B1A-B445-982FF6D2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9EA6FD6-0B3E-4CE6-B93A-7C358A978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6B268A5-2636-4839-B5C6-B0D5F105E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CC6C11B-3AB2-480E-9190-CDB31F45E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91D49E5-D6A5-40D0-9125-19ADE9E82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A831E52-D49B-40F4-8F59-58E69263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804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FE78D8C-0889-4DE9-92F7-A4928D78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45EA024-5FE1-446E-BFF7-61087C573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3049C63-A0DE-4D4E-A3A0-B38A92374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A06E8D0-6F55-44E4-B625-9589C905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9619D1A-D23A-4A66-B695-3FDCFCDA1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98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C896E8AC-9386-4D62-AC4E-7F2ABC19F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E810C42-5468-4349-8026-CE89B04F0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75A2F25-9E46-466A-A9A6-D7980C979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EA61562-1D5B-4F52-95D1-61A65901E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9EE0C8-C2EA-4940-AB53-13DD6417A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54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9C734E2C-F281-4EFC-BD6E-78D8D7FB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0B987A-D5E1-401D-A258-40ED168F1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46A1203-75B1-4EF2-A435-A96DC7348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2/14/2023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DEE54B-23E4-4481-A2A1-DA7F6BA2F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D31CA87-6451-4F97-96C7-0700BE05AD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673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jpg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698" y="4497935"/>
            <a:ext cx="7772400" cy="763525"/>
          </a:xfrm>
        </p:spPr>
        <p:txBody>
          <a:bodyPr>
            <a:normAutofit/>
          </a:bodyPr>
          <a:lstStyle/>
          <a:p>
            <a:r>
              <a:rPr lang="en-US" sz="4000" b="1" dirty="0"/>
              <a:t>Force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5298" y="5261460"/>
            <a:ext cx="6400800" cy="10689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Engineering Mechanics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61855" y="28347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en-US" sz="3200" b="1" dirty="0">
                <a:solidFill>
                  <a:schemeClr val="tx2"/>
                </a:solidFill>
              </a:rPr>
              <a:t>Addis Ababa Science and Technology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502" y="3913160"/>
            <a:ext cx="234109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Chapter Two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59" y="0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9E1D"/>
                </a:solidFill>
              </a:rPr>
              <a:t>2.1 Introduction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59" y="684885"/>
            <a:ext cx="7016195" cy="5576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FFFF00"/>
                </a:solidFill>
              </a:rPr>
              <a:t>What is a force?</a:t>
            </a:r>
          </a:p>
          <a:p>
            <a:r>
              <a:rPr lang="en-US" dirty="0" smtClean="0">
                <a:solidFill>
                  <a:srgbClr val="FFFF00"/>
                </a:solidFill>
              </a:rPr>
              <a:t>A </a:t>
            </a:r>
            <a:r>
              <a:rPr lang="en-US" dirty="0">
                <a:solidFill>
                  <a:srgbClr val="FFFF00"/>
                </a:solidFill>
              </a:rPr>
              <a:t>force can be defined as the action of one body on another that changes/tends to changes the state of the body acted on.</a:t>
            </a:r>
          </a:p>
          <a:p>
            <a:r>
              <a:rPr lang="en-US" b="1" dirty="0" smtClean="0">
                <a:solidFill>
                  <a:srgbClr val="FF9E1D"/>
                </a:solidFill>
              </a:rPr>
              <a:t>Types of forces</a:t>
            </a:r>
            <a:endParaRPr lang="en-US" b="1" dirty="0">
              <a:solidFill>
                <a:srgbClr val="FF9E1D"/>
              </a:solidFill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action (Body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force)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Concentrated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internal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strain &amp; stress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external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(applied &amp; reactive) 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Collinear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forces</a:t>
            </a:r>
          </a:p>
          <a:p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US" sz="24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5576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9E1D"/>
                </a:solidFill>
              </a:rPr>
              <a:t>2.1 Introduction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</a:rPr>
              <a:t>Principle of Transmissibility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It </a:t>
            </a:r>
            <a:r>
              <a:rPr lang="en-US" sz="3200" dirty="0">
                <a:solidFill>
                  <a:schemeClr val="bg1"/>
                </a:solidFill>
              </a:rPr>
              <a:t>is not necessary to restrict the action of an applied force to a given point.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065" y="4650640"/>
            <a:ext cx="253365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26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823309" y="303157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2.2.1. Resolution of a Force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23308" y="910591"/>
            <a:ext cx="7016195" cy="427574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</a:rPr>
              <a:t>Rectangular Component</a:t>
            </a:r>
          </a:p>
          <a:p>
            <a:r>
              <a:rPr lang="en-US" sz="3200" dirty="0">
                <a:solidFill>
                  <a:srgbClr val="0070C0"/>
                </a:solidFill>
              </a:rPr>
              <a:t>The </a:t>
            </a:r>
            <a:r>
              <a:rPr lang="en-US" sz="3200" b="1" dirty="0">
                <a:solidFill>
                  <a:srgbClr val="0070C0"/>
                </a:solidFill>
              </a:rPr>
              <a:t>most common </a:t>
            </a:r>
            <a:r>
              <a:rPr lang="en-US" sz="3200" dirty="0">
                <a:solidFill>
                  <a:srgbClr val="0070C0"/>
                </a:solidFill>
              </a:rPr>
              <a:t>two-dimensional </a:t>
            </a:r>
            <a:r>
              <a:rPr lang="en-US" sz="3200" dirty="0" smtClean="0">
                <a:solidFill>
                  <a:srgbClr val="0070C0"/>
                </a:solidFill>
              </a:rPr>
              <a:t>resolution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Rectangular components of a force are the components of the force along the rectangular coordinate axes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 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809" y="4192525"/>
            <a:ext cx="2667000" cy="2057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524" y="5859400"/>
            <a:ext cx="1400175" cy="3905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131" y="4192525"/>
            <a:ext cx="3448050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C000"/>
                </a:solidFill>
                <a:ea typeface="Times New Roman" panose="02020603050405020304" pitchFamily="18" charset="0"/>
                <a:cs typeface="Consolas" panose="020B0609020204030204" pitchFamily="49" charset="0"/>
              </a:rPr>
              <a:t>2.2.2. Non-Coplanar Force Systems (3-D)</a:t>
            </a:r>
            <a:r>
              <a:rPr lang="en-US" b="1" dirty="0">
                <a:solidFill>
                  <a:srgbClr val="FFC000"/>
                </a:solidFill>
              </a:rPr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sz="3200" dirty="0" smtClean="0">
                <a:solidFill>
                  <a:schemeClr val="bg1"/>
                </a:solidFill>
              </a:rPr>
              <a:t>Many </a:t>
            </a:r>
            <a:r>
              <a:rPr lang="en-US" sz="3200" dirty="0">
                <a:solidFill>
                  <a:schemeClr val="bg1"/>
                </a:solidFill>
              </a:rPr>
              <a:t>problems in mechanics requires analysis in </a:t>
            </a:r>
            <a:r>
              <a:rPr lang="en-US" sz="3200" dirty="0">
                <a:solidFill>
                  <a:srgbClr val="FFFF00"/>
                </a:solidFill>
              </a:rPr>
              <a:t>3 dimension</a:t>
            </a:r>
          </a:p>
          <a:p>
            <a:r>
              <a:rPr lang="en-US" sz="3200" dirty="0" smtClean="0">
                <a:solidFill>
                  <a:schemeClr val="bg1"/>
                </a:solidFill>
              </a:rPr>
              <a:t>A </a:t>
            </a:r>
            <a:r>
              <a:rPr lang="en-US" sz="3200" dirty="0">
                <a:solidFill>
                  <a:schemeClr val="bg1"/>
                </a:solidFill>
              </a:rPr>
              <a:t>force F in 3-d system has a rectangular components </a:t>
            </a:r>
            <a:r>
              <a:rPr lang="en-US" sz="3200" dirty="0" err="1">
                <a:solidFill>
                  <a:schemeClr val="bg1"/>
                </a:solidFill>
              </a:rPr>
              <a:t>Fx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Fy</a:t>
            </a:r>
            <a:r>
              <a:rPr lang="en-US" sz="3200" dirty="0">
                <a:solidFill>
                  <a:schemeClr val="bg1"/>
                </a:solidFill>
              </a:rPr>
              <a:t>, </a:t>
            </a:r>
            <a:r>
              <a:rPr lang="en-US" sz="3200" dirty="0" err="1">
                <a:solidFill>
                  <a:schemeClr val="bg1"/>
                </a:solidFill>
              </a:rPr>
              <a:t>Fz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174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Rectangular Components  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35" y="985719"/>
            <a:ext cx="3970330" cy="384660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9090" y="5132871"/>
            <a:ext cx="6069920" cy="142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2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 smtClean="0">
                <a:solidFill>
                  <a:srgbClr val="FFC000"/>
                </a:solidFill>
              </a:rPr>
              <a:t>Direction of force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FF00"/>
                </a:solidFill>
              </a:rPr>
              <a:t>A. By two points on the line of action of the force, or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FF00"/>
                </a:solidFill>
              </a:rPr>
              <a:t>B. By two angles which orient the line of action.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85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 err="1" smtClean="0">
                <a:solidFill>
                  <a:srgbClr val="FFC000"/>
                </a:solidFill>
              </a:rPr>
              <a:t>Cont</a:t>
            </a:r>
            <a:r>
              <a:rPr lang="en-US" b="1" dirty="0" smtClean="0">
                <a:solidFill>
                  <a:srgbClr val="FFC000"/>
                </a:solidFill>
              </a:rPr>
              <a:t>…..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517185" cy="557602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FF00"/>
                </a:solidFill>
              </a:rPr>
              <a:t>A. By two points on the line of action of the </a:t>
            </a:r>
            <a:r>
              <a:rPr lang="en-US" dirty="0" smtClean="0">
                <a:solidFill>
                  <a:srgbClr val="FFFF00"/>
                </a:solidFill>
              </a:rPr>
              <a:t>force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645" y="5137212"/>
            <a:ext cx="6108200" cy="7967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7257" y="1591965"/>
            <a:ext cx="4275740" cy="303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513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 err="1" smtClean="0">
                <a:solidFill>
                  <a:srgbClr val="FFC000"/>
                </a:solidFill>
              </a:rPr>
              <a:t>Contd</a:t>
            </a:r>
            <a:r>
              <a:rPr lang="en-US" b="1" dirty="0" smtClean="0">
                <a:solidFill>
                  <a:srgbClr val="FFC000"/>
                </a:solidFill>
              </a:rPr>
              <a:t>……………….  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517185" cy="5576020"/>
          </a:xfrm>
        </p:spPr>
        <p:txBody>
          <a:bodyPr/>
          <a:lstStyle/>
          <a:p>
            <a:r>
              <a:rPr lang="en-US" sz="3200" dirty="0">
                <a:solidFill>
                  <a:srgbClr val="FFFF00"/>
                </a:solidFill>
              </a:rPr>
              <a:t>B. By two angles which orient the line of action.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70" y="1580348"/>
            <a:ext cx="3228975" cy="3467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835" y="5469999"/>
            <a:ext cx="1400175" cy="59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295" y="5469999"/>
            <a:ext cx="3441731" cy="59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79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Rectangular Components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483261" y="680310"/>
                <a:ext cx="7517185" cy="557602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200" b="1" dirty="0">
                    <a:solidFill>
                      <a:srgbClr val="FFFF00"/>
                    </a:solidFill>
                  </a:rPr>
                  <a:t>Dot product 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It is possible to express the rectangular components of a force with the aid of the vector operation known as the dot or scalar product.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𝑃𝑄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This product can be viewed as either </a:t>
                </a:r>
              </a:p>
              <a:p>
                <a:pPr marL="514350" indent="-51435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</a:rPr>
                  <a:t>The orthogonal projection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func>
                      <m:func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of </a:t>
                </a:r>
                <a:r>
                  <a:rPr lang="en-US" dirty="0">
                    <a:solidFill>
                      <a:srgbClr val="FFFF00"/>
                    </a:solidFill>
                  </a:rPr>
                  <a:t>P</a:t>
                </a:r>
                <a:r>
                  <a:rPr lang="en-US" dirty="0">
                    <a:solidFill>
                      <a:schemeClr val="bg1"/>
                    </a:solidFill>
                  </a:rPr>
                  <a:t> on the direction of </a:t>
                </a:r>
                <a:r>
                  <a:rPr lang="en-US" dirty="0">
                    <a:solidFill>
                      <a:srgbClr val="FFFF00"/>
                    </a:solidFill>
                  </a:rPr>
                  <a:t>Q</a:t>
                </a:r>
                <a:r>
                  <a:rPr lang="en-US" dirty="0">
                    <a:solidFill>
                      <a:schemeClr val="bg1"/>
                    </a:solidFill>
                  </a:rPr>
                  <a:t> multiplied by </a:t>
                </a:r>
                <a:r>
                  <a:rPr lang="en-US" i="1" dirty="0">
                    <a:solidFill>
                      <a:srgbClr val="FFFF00"/>
                    </a:solidFill>
                  </a:rPr>
                  <a:t>Q</a:t>
                </a:r>
                <a:r>
                  <a:rPr lang="en-US" dirty="0">
                    <a:solidFill>
                      <a:schemeClr val="bg1"/>
                    </a:solidFill>
                  </a:rPr>
                  <a:t>, or</a:t>
                </a:r>
              </a:p>
              <a:p>
                <a:pPr marL="514350" indent="-514350">
                  <a:buAutoNum type="arabicPeriod"/>
                </a:pPr>
                <a:r>
                  <a:rPr lang="en-US" dirty="0">
                    <a:solidFill>
                      <a:schemeClr val="bg1"/>
                    </a:solidFill>
                  </a:rPr>
                  <a:t>As the orthogonal projection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func>
                      <m:func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of </a:t>
                </a:r>
                <a:r>
                  <a:rPr lang="en-US" dirty="0">
                    <a:solidFill>
                      <a:srgbClr val="FFFF00"/>
                    </a:solidFill>
                  </a:rPr>
                  <a:t>Q</a:t>
                </a:r>
                <a:r>
                  <a:rPr lang="en-US" dirty="0">
                    <a:solidFill>
                      <a:schemeClr val="bg1"/>
                    </a:solidFill>
                  </a:rPr>
                  <a:t> in the direction of </a:t>
                </a:r>
                <a:r>
                  <a:rPr lang="en-US" dirty="0">
                    <a:solidFill>
                      <a:srgbClr val="FFFF00"/>
                    </a:solidFill>
                  </a:rPr>
                  <a:t>P</a:t>
                </a:r>
                <a:r>
                  <a:rPr lang="en-US" dirty="0">
                    <a:solidFill>
                      <a:schemeClr val="bg1"/>
                    </a:solidFill>
                  </a:rPr>
                  <a:t> multiplied by </a:t>
                </a:r>
                <a:r>
                  <a:rPr lang="en-US" i="1" dirty="0">
                    <a:solidFill>
                      <a:srgbClr val="FFFF0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3261" y="680310"/>
                <a:ext cx="7517185" cy="5576020"/>
              </a:xfrm>
              <a:blipFill rotWithShape="0">
                <a:blip r:embed="rId3"/>
                <a:stretch>
                  <a:fillRect l="-2028" t="-1422" r="-2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8383" y="5514806"/>
            <a:ext cx="18859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8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48964" y="222195"/>
            <a:ext cx="8695035" cy="684885"/>
          </a:xfrm>
        </p:spPr>
        <p:txBody>
          <a:bodyPr>
            <a:normAutofit/>
          </a:bodyPr>
          <a:lstStyle/>
          <a:p>
            <a:pPr marL="519113"/>
            <a:r>
              <a:rPr lang="en-US" b="1" dirty="0">
                <a:solidFill>
                  <a:srgbClr val="FFC000"/>
                </a:solidFill>
              </a:rPr>
              <a:t>2.3. Moment, Couple &amp; Force-Couple systems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6" y="907080"/>
            <a:ext cx="7329840" cy="557602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C000"/>
                </a:solidFill>
              </a:rPr>
              <a:t>What is a Moment?</a:t>
            </a:r>
            <a:endParaRPr lang="en-US" sz="2400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tendency </a:t>
            </a:r>
            <a:r>
              <a:rPr lang="en-US" b="1" dirty="0"/>
              <a:t>of a force to </a:t>
            </a:r>
            <a:r>
              <a:rPr lang="en-US" b="1" dirty="0" smtClean="0"/>
              <a:t>rotate or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rotational tendency of a </a:t>
            </a:r>
            <a:r>
              <a:rPr lang="en-US" dirty="0" smtClean="0"/>
              <a:t>force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magnitude of moment can be obtained by: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         M = F x d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35" y="3429000"/>
            <a:ext cx="2982324" cy="241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62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Moment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483260" y="907079"/>
                <a:ext cx="7364480" cy="57287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FF00"/>
                    </a:solidFill>
                  </a:rPr>
                  <a:t>The cross product</a:t>
                </a:r>
                <a:r>
                  <a:rPr lang="en-US" dirty="0">
                    <a:solidFill>
                      <a:srgbClr val="FFFF00"/>
                    </a:solidFill>
                  </a:rPr>
                  <a:t> </a:t>
                </a:r>
              </a:p>
              <a:p>
                <a:r>
                  <a:rPr lang="en-US" sz="3200" dirty="0" smtClean="0">
                    <a:solidFill>
                      <a:schemeClr val="bg1"/>
                    </a:solidFill>
                  </a:rPr>
                  <a:t>The </a:t>
                </a:r>
                <a:r>
                  <a:rPr lang="en-US" sz="3200" dirty="0">
                    <a:solidFill>
                      <a:schemeClr val="bg1"/>
                    </a:solidFill>
                  </a:rPr>
                  <a:t>moment of a force F about a point </a:t>
                </a:r>
                <a:r>
                  <a:rPr lang="en-US" sz="3200" dirty="0" smtClean="0">
                    <a:solidFill>
                      <a:schemeClr val="bg1"/>
                    </a:solidFill>
                  </a:rPr>
                  <a:t>is</a:t>
                </a:r>
                <a:endParaRPr lang="en-US" sz="3200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dirty="0">
                    <a:solidFill>
                      <a:srgbClr val="FFFF00"/>
                    </a:solidFill>
                  </a:rPr>
                  <a:t>M = r X F </a:t>
                </a:r>
              </a:p>
              <a:p>
                <a:r>
                  <a:rPr lang="en-US" sz="3000" dirty="0">
                    <a:solidFill>
                      <a:schemeClr val="bg1"/>
                    </a:solidFill>
                  </a:rPr>
                  <a:t>Where r is the position vector from point of rotation to any point on the line of application of the force  </a:t>
                </a:r>
              </a:p>
              <a:p>
                <a:r>
                  <a:rPr lang="en-US" sz="3000" dirty="0">
                    <a:solidFill>
                      <a:srgbClr val="FFFF00"/>
                    </a:solidFill>
                  </a:rPr>
                  <a:t>The magnitude of this expression is </a:t>
                </a:r>
              </a:p>
              <a:p>
                <a:pPr marL="0" indent="0" algn="ctr">
                  <a:buNone/>
                </a:pPr>
                <a:r>
                  <a:rPr lang="en-US" sz="3000" i="1" dirty="0">
                    <a:solidFill>
                      <a:srgbClr val="FFFF00"/>
                    </a:solidFill>
                  </a:rPr>
                  <a:t>M = </a:t>
                </a:r>
                <a:r>
                  <a:rPr lang="en-US" sz="3000" i="1" dirty="0" err="1">
                    <a:solidFill>
                      <a:srgbClr val="FFFF00"/>
                    </a:solidFill>
                  </a:rPr>
                  <a:t>rFsin</a:t>
                </a:r>
                <a14:m>
                  <m:oMath xmlns:m="http://schemas.openxmlformats.org/officeDocument/2006/math">
                    <m:r>
                      <a:rPr lang="en-US" sz="30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endParaRPr lang="en-US" sz="3000" i="1" dirty="0">
                  <a:solidFill>
                    <a:srgbClr val="FFFF00"/>
                  </a:solidFill>
                </a:endParaRPr>
              </a:p>
              <a:p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3260" y="907079"/>
                <a:ext cx="7364480" cy="5728725"/>
              </a:xfrm>
              <a:blipFill rotWithShape="0">
                <a:blip r:embed="rId3"/>
                <a:stretch>
                  <a:fillRect l="-1904" t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2882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Moment</a:t>
            </a:r>
            <a:r>
              <a:rPr lang="en-US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00"/>
                </a:solidFill>
              </a:rPr>
              <a:t>Varignon's</a:t>
            </a:r>
            <a:r>
              <a:rPr lang="en-US" sz="3200" b="1" dirty="0">
                <a:solidFill>
                  <a:srgbClr val="FFFF00"/>
                </a:solidFill>
              </a:rPr>
              <a:t> theorem</a:t>
            </a:r>
          </a:p>
          <a:p>
            <a:r>
              <a:rPr lang="en-US" sz="3200" dirty="0">
                <a:solidFill>
                  <a:schemeClr val="bg1"/>
                </a:solidFill>
              </a:rPr>
              <a:t>One of the most important principles in mechanics </a:t>
            </a:r>
          </a:p>
          <a:p>
            <a:r>
              <a:rPr lang="en-US" sz="3200" dirty="0">
                <a:solidFill>
                  <a:schemeClr val="bg1"/>
                </a:solidFill>
              </a:rPr>
              <a:t>states “</a:t>
            </a:r>
            <a:r>
              <a:rPr lang="en-US" sz="3200" dirty="0">
                <a:solidFill>
                  <a:schemeClr val="tx1"/>
                </a:solidFill>
              </a:rPr>
              <a:t>the moment of a force about any point is equal to the sum of the moments of the components of the force </a:t>
            </a:r>
            <a:r>
              <a:rPr lang="en-US" sz="3200" dirty="0">
                <a:solidFill>
                  <a:schemeClr val="bg1"/>
                </a:solidFill>
              </a:rPr>
              <a:t>about the same point.”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041" y="4581141"/>
            <a:ext cx="1381125" cy="3905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569" y="4581141"/>
            <a:ext cx="1971675" cy="285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0517" y="5241086"/>
            <a:ext cx="2162175" cy="295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6640" y="5805781"/>
            <a:ext cx="32099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2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Couple </a:t>
            </a:r>
            <a:r>
              <a:rPr lang="en-US" dirty="0"/>
              <a:t>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79"/>
            <a:ext cx="7364480" cy="572872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The </a:t>
            </a:r>
            <a:r>
              <a:rPr lang="en-US" sz="3200" dirty="0">
                <a:solidFill>
                  <a:schemeClr val="tx1"/>
                </a:solidFill>
              </a:rPr>
              <a:t>moment</a:t>
            </a:r>
            <a:r>
              <a:rPr lang="en-US" sz="3200" dirty="0">
                <a:solidFill>
                  <a:schemeClr val="bg1"/>
                </a:solidFill>
              </a:rPr>
              <a:t> produced by two </a:t>
            </a:r>
            <a:r>
              <a:rPr lang="en-US" sz="3200" dirty="0">
                <a:solidFill>
                  <a:schemeClr val="tx1"/>
                </a:solidFill>
              </a:rPr>
              <a:t>equal and opposite and non-collinear forces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3200" dirty="0">
                <a:solidFill>
                  <a:schemeClr val="bg1"/>
                </a:solidFill>
              </a:rPr>
              <a:t>These two forces can’t be combined in to a single force of the same effect on the body, as their sum in every direction is zero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Their only effect is to </a:t>
            </a:r>
            <a:r>
              <a:rPr lang="en-US" sz="3200" dirty="0">
                <a:solidFill>
                  <a:schemeClr val="tx1"/>
                </a:solidFill>
              </a:rPr>
              <a:t>create a tendency of rotation 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065" y="1901950"/>
            <a:ext cx="2343844" cy="183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5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Couple</a:t>
            </a:r>
            <a:r>
              <a:rPr lang="en-US" dirty="0"/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The combined </a:t>
            </a:r>
            <a:r>
              <a:rPr lang="en-US" sz="3200" b="1" dirty="0">
                <a:solidFill>
                  <a:srgbClr val="FFC000"/>
                </a:solidFill>
              </a:rPr>
              <a:t>moment</a:t>
            </a:r>
            <a:r>
              <a:rPr lang="en-US" sz="3200" dirty="0">
                <a:solidFill>
                  <a:schemeClr val="bg1"/>
                </a:solidFill>
              </a:rPr>
              <a:t> of the two forces </a:t>
            </a:r>
            <a:r>
              <a:rPr lang="en-US" sz="3200" dirty="0">
                <a:solidFill>
                  <a:srgbClr val="FFC000"/>
                </a:solidFill>
              </a:rPr>
              <a:t>about an axis normal</a:t>
            </a:r>
            <a:r>
              <a:rPr lang="en-US" sz="3200" dirty="0">
                <a:solidFill>
                  <a:schemeClr val="bg1"/>
                </a:solidFill>
              </a:rPr>
              <a:t> to their plane and passing through any point such as o in their plane is </a:t>
            </a:r>
            <a:r>
              <a:rPr lang="en-US" sz="3200" b="1" dirty="0">
                <a:solidFill>
                  <a:srgbClr val="FFC000"/>
                </a:solidFill>
              </a:rPr>
              <a:t>the couple, 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0" y="3429000"/>
            <a:ext cx="3206805" cy="282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7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Couple</a:t>
            </a:r>
            <a:r>
              <a:rPr lang="en-US" dirty="0"/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722" y="3762113"/>
            <a:ext cx="3159847" cy="2392033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246960"/>
              </p:ext>
            </p:extLst>
          </p:nvPr>
        </p:nvGraphicFramePr>
        <p:xfrm>
          <a:off x="2458098" y="3156332"/>
          <a:ext cx="46545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" name="Equation" r:id="rId5" imgW="2971800" imgH="431640" progId="Equation.3">
                  <p:embed/>
                </p:oleObj>
              </mc:Choice>
              <mc:Fallback>
                <p:oleObj name="Equation" r:id="rId5" imgW="297180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58098" y="3156332"/>
                        <a:ext cx="4654550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949" y="724151"/>
            <a:ext cx="2901395" cy="226836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1425" y="6220410"/>
            <a:ext cx="4559075" cy="43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Couple</a:t>
            </a:r>
            <a:r>
              <a:rPr lang="en-US" dirty="0"/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sz="3200" b="1" dirty="0">
                <a:solidFill>
                  <a:srgbClr val="FFFF00"/>
                </a:solidFill>
              </a:rPr>
              <a:t>Equivalent Couples </a:t>
            </a:r>
          </a:p>
          <a:p>
            <a:r>
              <a:rPr lang="en-US" sz="3200" dirty="0">
                <a:solidFill>
                  <a:schemeClr val="bg1"/>
                </a:solidFill>
              </a:rPr>
              <a:t>Changing the value of </a:t>
            </a:r>
            <a:r>
              <a:rPr lang="en-US" sz="3200" i="1" dirty="0">
                <a:solidFill>
                  <a:srgbClr val="FFFF00"/>
                </a:solidFill>
              </a:rPr>
              <a:t>F</a:t>
            </a:r>
            <a:r>
              <a:rPr lang="en-US" sz="3200" dirty="0">
                <a:solidFill>
                  <a:schemeClr val="bg1"/>
                </a:solidFill>
              </a:rPr>
              <a:t> and </a:t>
            </a:r>
            <a:r>
              <a:rPr lang="en-US" sz="3200" i="1" dirty="0">
                <a:solidFill>
                  <a:srgbClr val="FFFF00"/>
                </a:solidFill>
              </a:rPr>
              <a:t>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chemeClr val="tx1"/>
                </a:solidFill>
              </a:rPr>
              <a:t>does not change a given couple</a:t>
            </a:r>
            <a:r>
              <a:rPr lang="en-US" sz="3200" dirty="0">
                <a:solidFill>
                  <a:schemeClr val="bg1"/>
                </a:solidFill>
              </a:rPr>
              <a:t> as long as the product </a:t>
            </a:r>
            <a:r>
              <a:rPr lang="en-US" sz="3200" i="1" dirty="0">
                <a:solidFill>
                  <a:srgbClr val="FFFF00"/>
                </a:solidFill>
              </a:rPr>
              <a:t>Fad </a:t>
            </a:r>
            <a:r>
              <a:rPr lang="en-US" sz="3200" dirty="0">
                <a:solidFill>
                  <a:schemeClr val="bg1"/>
                </a:solidFill>
              </a:rPr>
              <a:t>remains the same.  </a:t>
            </a:r>
          </a:p>
          <a:p>
            <a:r>
              <a:rPr lang="en-US" sz="3200" dirty="0">
                <a:solidFill>
                  <a:schemeClr val="bg1"/>
                </a:solidFill>
              </a:rPr>
              <a:t>Likewise, a </a:t>
            </a:r>
            <a:r>
              <a:rPr lang="en-US" sz="3200" dirty="0">
                <a:solidFill>
                  <a:schemeClr val="tx1"/>
                </a:solidFill>
              </a:rPr>
              <a:t>couple is not affected </a:t>
            </a:r>
            <a:r>
              <a:rPr lang="en-US" sz="3200" dirty="0">
                <a:solidFill>
                  <a:schemeClr val="bg1"/>
                </a:solidFill>
              </a:rPr>
              <a:t>if the forces </a:t>
            </a:r>
            <a:r>
              <a:rPr lang="en-US" sz="3200" dirty="0">
                <a:solidFill>
                  <a:schemeClr val="tx1"/>
                </a:solidFill>
              </a:rPr>
              <a:t>act in a different but parallel plane</a:t>
            </a:r>
            <a:r>
              <a:rPr lang="en-US" sz="3200" dirty="0">
                <a:solidFill>
                  <a:schemeClr val="bg1"/>
                </a:solidFill>
              </a:rPr>
              <a:t>.  </a:t>
            </a:r>
          </a:p>
          <a:p>
            <a:endParaRPr lang="en-US" sz="3200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025" y="4542287"/>
            <a:ext cx="3219450" cy="2057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475" y="4542287"/>
            <a:ext cx="40386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8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</a:rPr>
              <a:t>Force-Couple System</a:t>
            </a:r>
            <a:r>
              <a:rPr lang="en-US" b="1" dirty="0"/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rgbClr val="FFFF00"/>
                </a:solidFill>
              </a:rPr>
              <a:t>effect of a force </a:t>
            </a:r>
            <a:r>
              <a:rPr lang="en-US" dirty="0">
                <a:solidFill>
                  <a:schemeClr val="bg1"/>
                </a:solidFill>
              </a:rPr>
              <a:t>on a body is the tendency to </a:t>
            </a:r>
            <a:r>
              <a:rPr lang="en-US" dirty="0">
                <a:solidFill>
                  <a:srgbClr val="FFFF00"/>
                </a:solidFill>
              </a:rPr>
              <a:t>push or pull </a:t>
            </a:r>
            <a:r>
              <a:rPr lang="en-US" dirty="0">
                <a:solidFill>
                  <a:schemeClr val="bg1"/>
                </a:solidFill>
              </a:rPr>
              <a:t>and to </a:t>
            </a:r>
            <a:r>
              <a:rPr lang="en-US" dirty="0">
                <a:solidFill>
                  <a:srgbClr val="FFFF00"/>
                </a:solidFill>
              </a:rPr>
              <a:t>rotate</a:t>
            </a:r>
            <a:r>
              <a:rPr lang="en-US" dirty="0">
                <a:solidFill>
                  <a:schemeClr val="bg1"/>
                </a:solidFill>
              </a:rPr>
              <a:t> the body.</a:t>
            </a:r>
          </a:p>
          <a:p>
            <a:r>
              <a:rPr lang="en-US" dirty="0">
                <a:solidFill>
                  <a:schemeClr val="bg1"/>
                </a:solidFill>
              </a:rPr>
              <a:t> The representation of this dual effect can be facilitated by </a:t>
            </a:r>
            <a:r>
              <a:rPr lang="en-US" b="1" dirty="0">
                <a:solidFill>
                  <a:srgbClr val="FFC000"/>
                </a:solidFill>
              </a:rPr>
              <a:t>replacing the given force by an equal and parallel force and a couple </a:t>
            </a:r>
            <a:r>
              <a:rPr lang="en-US" dirty="0">
                <a:solidFill>
                  <a:schemeClr val="bg1"/>
                </a:solidFill>
              </a:rPr>
              <a:t>to compensate for the change in the moment of the forces.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015" y="4821367"/>
            <a:ext cx="1695450" cy="13239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465" y="4821367"/>
            <a:ext cx="2024260" cy="1323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725" y="4821367"/>
            <a:ext cx="1790700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11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2.3.2. Moment and Couple 3-D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365195" y="907080"/>
            <a:ext cx="7778805" cy="557602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Moments in three dimensions </a:t>
            </a:r>
          </a:p>
          <a:p>
            <a:r>
              <a:rPr lang="en-US" sz="3200" dirty="0">
                <a:solidFill>
                  <a:schemeClr val="bg1"/>
                </a:solidFill>
              </a:rPr>
              <a:t>In two dimensional analysis it is convenient to use the moment arm rule </a:t>
            </a:r>
            <a:r>
              <a:rPr lang="en-US" sz="3200" dirty="0">
                <a:solidFill>
                  <a:srgbClr val="FFFF00"/>
                </a:solidFill>
              </a:rPr>
              <a:t>(M=</a:t>
            </a:r>
            <a:r>
              <a:rPr lang="en-US" sz="3200" dirty="0" err="1">
                <a:solidFill>
                  <a:srgbClr val="FFFF00"/>
                </a:solidFill>
              </a:rPr>
              <a:t>Fd</a:t>
            </a:r>
            <a:r>
              <a:rPr lang="en-US" sz="3200" dirty="0">
                <a:solidFill>
                  <a:srgbClr val="FFFF00"/>
                </a:solidFill>
              </a:rPr>
              <a:t>)</a:t>
            </a:r>
          </a:p>
          <a:p>
            <a:r>
              <a:rPr lang="en-US" sz="3200" dirty="0">
                <a:solidFill>
                  <a:schemeClr val="bg1"/>
                </a:solidFill>
              </a:rPr>
              <a:t>However, In three dimensions, the determination of the perpendicular distance between a point or line and the line of action of the force can be a tedious computation. </a:t>
            </a:r>
          </a:p>
          <a:p>
            <a:r>
              <a:rPr lang="en-US" sz="3200" dirty="0">
                <a:solidFill>
                  <a:schemeClr val="bg1"/>
                </a:solidFill>
              </a:rPr>
              <a:t>In such cases the use of a vector approach with cross-product multiplication becomes advantageous</a:t>
            </a:r>
          </a:p>
        </p:txBody>
      </p:sp>
    </p:spTree>
    <p:extLst>
      <p:ext uri="{BB962C8B-B14F-4D97-AF65-F5344CB8AC3E}">
        <p14:creationId xmlns:p14="http://schemas.microsoft.com/office/powerpoint/2010/main" val="4119911301"/>
      </p:ext>
    </p:extLst>
  </p:cSld>
  <p:clrMapOvr>
    <a:masterClrMapping/>
  </p:clrMapOvr>
  <p:transition spd="slow">
    <p:comb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111" y="1090861"/>
            <a:ext cx="8551480" cy="684885"/>
          </a:xfrm>
        </p:spPr>
        <p:txBody>
          <a:bodyPr/>
          <a:lstStyle/>
          <a:p>
            <a:r>
              <a:rPr lang="en-US" dirty="0">
                <a:solidFill>
                  <a:srgbClr val="F7E289"/>
                </a:solidFill>
              </a:rPr>
              <a:t>Cross product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296260" y="1888291"/>
                <a:ext cx="8704185" cy="474751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solidFill>
                    <a:srgbClr val="FFFF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6260" y="1888291"/>
                <a:ext cx="8704185" cy="4747514"/>
              </a:xfrm>
              <a:blipFill>
                <a:blip r:embed="rId2"/>
                <a:stretch>
                  <a:fillRect l="-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820" y="752876"/>
            <a:ext cx="3295650" cy="34861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0" y="2544537"/>
            <a:ext cx="2748690" cy="14066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936" y="1727991"/>
            <a:ext cx="2556158" cy="69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3651"/>
      </p:ext>
    </p:extLst>
  </p:cSld>
  <p:clrMapOvr>
    <a:masterClrMapping/>
  </p:clrMapOvr>
  <p:transition spd="slow">
    <p:comb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2.3.2. Moment and Couple 3-D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483260" y="907080"/>
                <a:ext cx="7517185" cy="5950920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F7E289"/>
                    </a:solidFill>
                  </a:rPr>
                  <a:t>Moment about an Arbitrary Axis </a:t>
                </a:r>
              </a:p>
              <a:p>
                <a:r>
                  <a:rPr lang="en-US" dirty="0">
                    <a:solidFill>
                      <a:srgbClr val="F7E289"/>
                    </a:solidFill>
                  </a:rPr>
                  <a:t>It is possible to obtain an expression for moment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  <a:sym typeface="Symbol" panose="05050102010706020507" pitchFamily="18" charset="2"/>
                          </a:rPr>
                          <m:t>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7E289"/>
                    </a:solidFill>
                  </a:rPr>
                  <a:t>of F about any axis </a:t>
                </a:r>
                <a:r>
                  <a:rPr lang="en-US" dirty="0">
                    <a:solidFill>
                      <a:srgbClr val="F7E289"/>
                    </a:solidFill>
                    <a:sym typeface="Symbol" panose="05050102010706020507" pitchFamily="18" charset="2"/>
                  </a:rPr>
                  <a:t></a:t>
                </a:r>
                <a:r>
                  <a:rPr lang="en-US" dirty="0">
                    <a:solidFill>
                      <a:srgbClr val="F7E289"/>
                    </a:solidFill>
                  </a:rPr>
                  <a:t> through O</a:t>
                </a:r>
              </a:p>
              <a:p>
                <a:endParaRPr lang="en-US" dirty="0">
                  <a:solidFill>
                    <a:srgbClr val="F7E289"/>
                  </a:solidFill>
                </a:endParaRPr>
              </a:p>
              <a:p>
                <a:endParaRPr lang="en-US" dirty="0">
                  <a:solidFill>
                    <a:srgbClr val="F7E289"/>
                  </a:solidFill>
                </a:endParaRPr>
              </a:p>
              <a:p>
                <a:endParaRPr lang="en-US" dirty="0">
                  <a:solidFill>
                    <a:srgbClr val="F7E289"/>
                  </a:solidFill>
                </a:endParaRPr>
              </a:p>
              <a:p>
                <a:endParaRPr lang="en-US" dirty="0">
                  <a:solidFill>
                    <a:srgbClr val="F7E289"/>
                  </a:solidFill>
                </a:endParaRPr>
              </a:p>
              <a:p>
                <a:endParaRPr lang="en-US" dirty="0">
                  <a:solidFill>
                    <a:srgbClr val="F7E289"/>
                  </a:solidFill>
                </a:endParaRPr>
              </a:p>
              <a:p>
                <a:endParaRPr lang="en-US" dirty="0">
                  <a:solidFill>
                    <a:srgbClr val="F7E289"/>
                  </a:solidFill>
                </a:endParaRPr>
              </a:p>
              <a:p>
                <a:r>
                  <a:rPr lang="en-US" dirty="0">
                    <a:solidFill>
                      <a:srgbClr val="F7E289"/>
                    </a:solidFill>
                  </a:rPr>
                  <a:t>We can use dot product expression </a:t>
                </a:r>
              </a:p>
              <a:p>
                <a:r>
                  <a:rPr lang="en-US" dirty="0">
                    <a:solidFill>
                      <a:srgbClr val="F7E28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</a:rPr>
                          <m:t> </m:t>
                        </m:r>
                      </m:sub>
                    </m:sSub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</a:rPr>
                          <m:t> 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F7E289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dirty="0" smtClean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dirty="0" smtClean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b="0" i="1" dirty="0" smtClean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>
                  <a:solidFill>
                    <a:srgbClr val="F7E289"/>
                  </a:solidFill>
                  <a:ea typeface="Cambria Math" panose="02040503050406030204" pitchFamily="18" charset="0"/>
                </a:endParaRPr>
              </a:p>
              <a:p>
                <a:r>
                  <a:rPr lang="en-US" dirty="0">
                    <a:solidFill>
                      <a:srgbClr val="F7E289"/>
                    </a:solidFill>
                  </a:rPr>
                  <a:t>Vector expression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  <a:sym typeface="Symbol" panose="05050102010706020507" pitchFamily="18" charset="2"/>
                          </a:rPr>
                          <m:t>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7E289"/>
                            </a:solidFill>
                          </a:rPr>
                          <m:t> </m:t>
                        </m:r>
                      </m:sub>
                    </m:sSub>
                    <m:r>
                      <a:rPr lang="en-US" i="1" dirty="0">
                        <a:solidFill>
                          <a:srgbClr val="F7E289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dirty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i="1" dirty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 dirty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  <m:r>
                          <a:rPr lang="en-US" i="1" dirty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n-US" i="1" dirty="0">
                            <a:solidFill>
                              <a:srgbClr val="F7E28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dirty="0" smtClean="0">
                        <a:solidFill>
                          <a:srgbClr val="F7E28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>
                  <a:solidFill>
                    <a:srgbClr val="F7E289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3260" y="907080"/>
                <a:ext cx="7517185" cy="5950920"/>
              </a:xfrm>
              <a:blipFill>
                <a:blip r:embed="rId3"/>
                <a:stretch>
                  <a:fillRect l="-811" t="-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950" y="2207360"/>
            <a:ext cx="3053629" cy="290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67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09" y="1291130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2.3.2. Moment and Couple 3-D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09" y="1907809"/>
            <a:ext cx="7016195" cy="4275740"/>
          </a:xfrm>
        </p:spPr>
        <p:txBody>
          <a:bodyPr/>
          <a:lstStyle/>
          <a:p>
            <a:r>
              <a:rPr lang="en-US" sz="3200" b="1" dirty="0" err="1">
                <a:solidFill>
                  <a:srgbClr val="FFFF00"/>
                </a:solidFill>
              </a:rPr>
              <a:t>Varignon's</a:t>
            </a:r>
            <a:r>
              <a:rPr lang="en-US" sz="3200" b="1" dirty="0">
                <a:solidFill>
                  <a:srgbClr val="FFFF00"/>
                </a:solidFill>
              </a:rPr>
              <a:t> theorem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Varignon's</a:t>
            </a:r>
            <a:r>
              <a:rPr lang="en-US" sz="3200" dirty="0">
                <a:solidFill>
                  <a:schemeClr val="bg1"/>
                </a:solidFill>
              </a:rPr>
              <a:t> theorem introduced in two-dimension can be easily extended to three dimensions.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65" y="4021374"/>
            <a:ext cx="2657475" cy="1838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8720" y="6021624"/>
            <a:ext cx="555307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4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2.3.2. Moment and Couple 3-D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483260" y="907080"/>
                <a:ext cx="7517185" cy="5576020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FFFF00"/>
                    </a:solidFill>
                  </a:rPr>
                  <a:t>Couples in Three Dimensions 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 If the vector r joins any point B on the line of action of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to any point A on the line of action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 The combined moment (couple) of the two forces about O is;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b="1" dirty="0">
                  <a:solidFill>
                    <a:srgbClr val="FFFF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US" b="1" dirty="0">
                  <a:solidFill>
                    <a:srgbClr val="FFFF00"/>
                  </a:solidFill>
                </a:endParaRPr>
              </a:p>
              <a:p>
                <a:r>
                  <a:rPr lang="en-US" b="1" dirty="0">
                    <a:solidFill>
                      <a:srgbClr val="FFFF00"/>
                    </a:solidFill>
                  </a:rPr>
                  <a:t>Magnitude of 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𝐹𝑑</m:t>
                      </m:r>
                    </m:oMath>
                  </m:oMathPara>
                </a14:m>
                <a:endParaRPr lang="en-US" b="1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3260" y="907080"/>
                <a:ext cx="7517185" cy="5576020"/>
              </a:xfrm>
              <a:blipFill rotWithShape="0">
                <a:blip r:embed="rId3"/>
                <a:stretch>
                  <a:fillRect l="-1460" t="-1093" r="-1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911" y="3825625"/>
            <a:ext cx="297180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38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2.3.2. Moment and Couple 3-D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212490" y="907079"/>
                <a:ext cx="7787955" cy="5728725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The moment of the couple,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, is the same about all points. Thus, </a:t>
                </a:r>
              </a:p>
              <a:p>
                <a:pPr marL="739775" lvl="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The moment of a couple is a free vector, </a:t>
                </a:r>
              </a:p>
              <a:p>
                <a:pPr marL="739775" lvl="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whereas the moment of a force about a point (which is also the moment about a defined axis through the point) is a sliding vector whose direction is along the axis through the point.</a:t>
                </a:r>
              </a:p>
              <a:p>
                <a:pPr marL="739775" lvl="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A couple tends to produce a pure rotation of the body about an axis normal to the plane of the forces which constitute the couple</a:t>
                </a:r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2490" y="907079"/>
                <a:ext cx="7787955" cy="5728725"/>
              </a:xfrm>
              <a:blipFill>
                <a:blip r:embed="rId3"/>
                <a:stretch>
                  <a:fillRect l="-783" t="-1170" r="-2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6424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4288" y="1291130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2.3.2. Moment and Couple 3-D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4288" y="1901949"/>
            <a:ext cx="7016195" cy="4733855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FF00"/>
                </a:solidFill>
              </a:rPr>
              <a:t>Force-Couple System</a:t>
            </a:r>
          </a:p>
          <a:p>
            <a:r>
              <a:rPr lang="en-US" sz="3200" dirty="0">
                <a:solidFill>
                  <a:schemeClr val="bg1"/>
                </a:solidFill>
              </a:rPr>
              <a:t>It is possible to carry out replacement of a force by its equivalent force-couple system in three dimensions.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5" y="4039820"/>
            <a:ext cx="5802790" cy="239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87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2.4. Resultants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The </a:t>
            </a:r>
            <a:r>
              <a:rPr lang="en-US" sz="3200" dirty="0">
                <a:solidFill>
                  <a:srgbClr val="FFFF00"/>
                </a:solidFill>
              </a:rPr>
              <a:t>resultant of a force system </a:t>
            </a:r>
            <a:r>
              <a:rPr lang="en-US" sz="3200" dirty="0">
                <a:solidFill>
                  <a:schemeClr val="bg1"/>
                </a:solidFill>
              </a:rPr>
              <a:t>is the </a:t>
            </a:r>
            <a:r>
              <a:rPr lang="en-US" sz="3200" dirty="0">
                <a:solidFill>
                  <a:srgbClr val="FFFF00"/>
                </a:solidFill>
              </a:rPr>
              <a:t>simplest force combination </a:t>
            </a:r>
            <a:r>
              <a:rPr lang="en-US" sz="3200" dirty="0">
                <a:solidFill>
                  <a:schemeClr val="bg1"/>
                </a:solidFill>
              </a:rPr>
              <a:t>that can replace the original forces </a:t>
            </a:r>
            <a:r>
              <a:rPr lang="en-US" sz="3200" dirty="0">
                <a:solidFill>
                  <a:srgbClr val="FFC000"/>
                </a:solidFill>
              </a:rPr>
              <a:t>without altering the external effect</a:t>
            </a:r>
            <a:r>
              <a:rPr lang="en-US" sz="3200" dirty="0">
                <a:solidFill>
                  <a:schemeClr val="bg1"/>
                </a:solidFill>
              </a:rPr>
              <a:t> of the system on the rigid body to which the forces are applied.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The </a:t>
            </a:r>
            <a:r>
              <a:rPr lang="en-US" sz="3200" dirty="0">
                <a:solidFill>
                  <a:srgbClr val="FFFF00"/>
                </a:solidFill>
              </a:rPr>
              <a:t>equilibrium of a body </a:t>
            </a:r>
            <a:r>
              <a:rPr lang="en-US" sz="3200" dirty="0">
                <a:solidFill>
                  <a:schemeClr val="bg1"/>
                </a:solidFill>
              </a:rPr>
              <a:t>is the condition </a:t>
            </a:r>
            <a:r>
              <a:rPr lang="en-US" sz="3200" dirty="0">
                <a:solidFill>
                  <a:srgbClr val="FFFF00"/>
                </a:solidFill>
              </a:rPr>
              <a:t>where the resultant </a:t>
            </a:r>
            <a:r>
              <a:rPr lang="en-US" sz="3200" dirty="0">
                <a:solidFill>
                  <a:schemeClr val="bg1"/>
                </a:solidFill>
              </a:rPr>
              <a:t>if all forces that act on it </a:t>
            </a:r>
            <a:r>
              <a:rPr lang="en-US" sz="3200" dirty="0">
                <a:solidFill>
                  <a:srgbClr val="FFFF00"/>
                </a:solidFill>
              </a:rPr>
              <a:t>is zero</a:t>
            </a:r>
            <a:r>
              <a:rPr lang="en-US" sz="3200" dirty="0">
                <a:solidFill>
                  <a:schemeClr val="bg1"/>
                </a:solidFill>
              </a:rPr>
              <a:t>. </a:t>
            </a:r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17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2.4. </a:t>
            </a:r>
            <a:r>
              <a:rPr lang="en-US" b="1">
                <a:solidFill>
                  <a:srgbClr val="FFC000"/>
                </a:solidFill>
              </a:rPr>
              <a:t>Resultants  </a:t>
            </a: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r>
              <a:rPr lang="en-US" sz="3200" dirty="0">
                <a:solidFill>
                  <a:schemeClr val="bg1"/>
                </a:solidFill>
              </a:rPr>
              <a:t>The resultant can be computed by using the </a:t>
            </a:r>
            <a:r>
              <a:rPr lang="en-US" sz="3200" dirty="0">
                <a:solidFill>
                  <a:srgbClr val="FFC000"/>
                </a:solidFill>
              </a:rPr>
              <a:t>parallelogram rule </a:t>
            </a:r>
            <a:r>
              <a:rPr lang="en-US" sz="3200" dirty="0">
                <a:solidFill>
                  <a:schemeClr val="bg1"/>
                </a:solidFill>
              </a:rPr>
              <a:t>or </a:t>
            </a:r>
            <a:r>
              <a:rPr lang="en-US" sz="3200" dirty="0">
                <a:solidFill>
                  <a:srgbClr val="FFC000"/>
                </a:solidFill>
              </a:rPr>
              <a:t>using analytical methods</a:t>
            </a:r>
            <a:r>
              <a:rPr lang="en-US" dirty="0">
                <a:solidFill>
                  <a:srgbClr val="FFC000"/>
                </a:solidFill>
              </a:rPr>
              <a:t>. 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594" y="5003831"/>
            <a:ext cx="5571526" cy="18324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942" y="2385888"/>
            <a:ext cx="29622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3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2.4. Resultants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364480" cy="557602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rgbClr val="FFC000"/>
                </a:solidFill>
              </a:rPr>
              <a:t>algebraic method </a:t>
            </a:r>
            <a:r>
              <a:rPr lang="en-US" dirty="0">
                <a:solidFill>
                  <a:schemeClr val="bg1"/>
                </a:solidFill>
              </a:rPr>
              <a:t>can be used to obtain the resultant force and its line of action.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00"/>
                </a:solidFill>
              </a:rPr>
              <a:t>Steps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1. </a:t>
            </a:r>
            <a:r>
              <a:rPr lang="en-US" dirty="0">
                <a:solidFill>
                  <a:schemeClr val="bg1"/>
                </a:solidFill>
              </a:rPr>
              <a:t>Choose a convenient reference point and move all forces to that point. Also determine the couple resulting from the transfer of forces.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015" y="3734410"/>
            <a:ext cx="2876991" cy="28417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327" y="3734410"/>
            <a:ext cx="2918715" cy="285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0030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2.4. Resultants (2D)</a:t>
            </a:r>
            <a:br>
              <a:rPr lang="en-US" b="1" dirty="0">
                <a:solidFill>
                  <a:srgbClr val="FFC000"/>
                </a:solidFill>
              </a:rPr>
            </a:br>
            <a:endParaRPr lang="en-US" b="1" dirty="0">
              <a:solidFill>
                <a:srgbClr val="FFC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2. </a:t>
            </a:r>
            <a:r>
              <a:rPr lang="en-US" sz="3200" dirty="0">
                <a:solidFill>
                  <a:schemeClr val="bg1"/>
                </a:solidFill>
              </a:rPr>
              <a:t>Add all forces at the point chosen to form the resultant force </a:t>
            </a:r>
            <a:r>
              <a:rPr lang="en-US" sz="3200" dirty="0">
                <a:solidFill>
                  <a:srgbClr val="FFFF00"/>
                </a:solidFill>
              </a:rPr>
              <a:t>R</a:t>
            </a:r>
            <a:r>
              <a:rPr lang="en-US" sz="3200" dirty="0">
                <a:solidFill>
                  <a:schemeClr val="bg1"/>
                </a:solidFill>
              </a:rPr>
              <a:t> and add all the couples to form the resultant couple </a:t>
            </a:r>
            <a:r>
              <a:rPr lang="en-US" sz="3200" dirty="0">
                <a:solidFill>
                  <a:srgbClr val="FFFF00"/>
                </a:solidFill>
              </a:rPr>
              <a:t>M. Then the single force-couple system can be obtained.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35" y="3581705"/>
            <a:ext cx="4275740" cy="279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1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b="1" dirty="0">
                <a:solidFill>
                  <a:srgbClr val="FFC000"/>
                </a:solidFill>
              </a:rPr>
              <a:t>2.4. Resultants 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016195" cy="5576020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</a:rPr>
              <a:t>3. </a:t>
            </a:r>
            <a:r>
              <a:rPr lang="en-US" sz="3200" dirty="0">
                <a:solidFill>
                  <a:schemeClr val="bg1"/>
                </a:solidFill>
              </a:rPr>
              <a:t>The line of action of the resultant force </a:t>
            </a:r>
            <a:r>
              <a:rPr lang="en-US" sz="3200" dirty="0">
                <a:solidFill>
                  <a:srgbClr val="FFFF00"/>
                </a:solidFill>
              </a:rPr>
              <a:t>R</a:t>
            </a:r>
            <a:r>
              <a:rPr lang="en-US" sz="3200" dirty="0">
                <a:solidFill>
                  <a:schemeClr val="bg1"/>
                </a:solidFill>
              </a:rPr>
              <a:t> can be obtained by determining the arm distance </a:t>
            </a:r>
            <a:r>
              <a:rPr lang="en-US" sz="3200" dirty="0">
                <a:solidFill>
                  <a:srgbClr val="FFFF00"/>
                </a:solidFill>
              </a:rPr>
              <a:t>d</a:t>
            </a:r>
            <a:r>
              <a:rPr lang="en-US" sz="3200" dirty="0">
                <a:solidFill>
                  <a:schemeClr val="bg1"/>
                </a:solidFill>
              </a:rPr>
              <a:t> required to create the moment </a:t>
            </a:r>
            <a:r>
              <a:rPr lang="en-US" sz="3200" dirty="0">
                <a:solidFill>
                  <a:srgbClr val="FFFF00"/>
                </a:solidFill>
              </a:rPr>
              <a:t>M</a:t>
            </a:r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065" y="2473450"/>
            <a:ext cx="3931572" cy="24432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0292" y="5108755"/>
            <a:ext cx="2597117" cy="149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89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2.4. Resultants  </a:t>
            </a:r>
            <a:r>
              <a:rPr lang="en-US" dirty="0"/>
              <a:t> 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517185" cy="557602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>
                <a:solidFill>
                  <a:srgbClr val="FFFF00"/>
                </a:solidFill>
              </a:rPr>
              <a:t>resultant of a force system </a:t>
            </a:r>
            <a:r>
              <a:rPr lang="en-US" dirty="0">
                <a:solidFill>
                  <a:schemeClr val="bg1"/>
                </a:solidFill>
              </a:rPr>
              <a:t>is the </a:t>
            </a:r>
            <a:r>
              <a:rPr lang="en-US" dirty="0">
                <a:solidFill>
                  <a:srgbClr val="FFFF00"/>
                </a:solidFill>
              </a:rPr>
              <a:t>simplest force combination</a:t>
            </a:r>
          </a:p>
          <a:p>
            <a:r>
              <a:rPr lang="en-US" dirty="0">
                <a:solidFill>
                  <a:schemeClr val="bg1"/>
                </a:solidFill>
              </a:rPr>
              <a:t>Any system of forces may be replaced by its resultant force R and the resultant couple 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magnitude of the resultants and their components are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581" y="3258152"/>
            <a:ext cx="4359553" cy="8534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0457" y="4701364"/>
            <a:ext cx="5802790" cy="173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0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2.4. Resultants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83260" y="907080"/>
            <a:ext cx="7517185" cy="5576020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The point O selected as the point of concurrency for the force is arbitrary</a:t>
            </a:r>
          </a:p>
          <a:p>
            <a:r>
              <a:rPr lang="en-US" dirty="0">
                <a:solidFill>
                  <a:schemeClr val="bg1"/>
                </a:solidFill>
              </a:rPr>
              <a:t>The magnitude and direction of M depend on the particular point O selected </a:t>
            </a:r>
          </a:p>
          <a:p>
            <a:r>
              <a:rPr lang="en-US" dirty="0">
                <a:solidFill>
                  <a:schemeClr val="bg1"/>
                </a:solidFill>
              </a:rPr>
              <a:t>However the magnitude and direction of R are the same no matter which point is selected</a:t>
            </a:r>
            <a:r>
              <a:rPr lang="en-US" dirty="0">
                <a:solidFill>
                  <a:schemeClr val="tx1"/>
                </a:solidFill>
              </a:rPr>
              <a:t>.  </a:t>
            </a: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5" y="0"/>
            <a:ext cx="6678299" cy="244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44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83261" y="22219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2.4. Resultants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483260" y="907080"/>
                <a:ext cx="7517185" cy="5576020"/>
              </a:xfrm>
            </p:spPr>
            <p:txBody>
              <a:bodyPr/>
              <a:lstStyle/>
              <a:p>
                <a:r>
                  <a:rPr lang="en-US" b="1" dirty="0">
                    <a:solidFill>
                      <a:srgbClr val="FFFF00"/>
                    </a:solidFill>
                  </a:rPr>
                  <a:t>Resultant of special force system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Concurrent Forces</a:t>
                </a:r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  <a:r>
                  <a:rPr lang="en-US" dirty="0">
                    <a:solidFill>
                      <a:srgbClr val="FFFF00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When forces are concurrent at a point only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is used because there is no moment about the point of concurrency.   </a:t>
                </a:r>
                <a:endParaRPr lang="en-US" dirty="0">
                  <a:solidFill>
                    <a:srgbClr val="FFFF00"/>
                  </a:solidFill>
                </a:endParaRP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Parallel Forces</a:t>
                </a:r>
                <a:r>
                  <a:rPr lang="en-US" dirty="0">
                    <a:solidFill>
                      <a:srgbClr val="FF0000"/>
                    </a:solidFill>
                  </a:rPr>
                  <a:t>. </a:t>
                </a:r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For a of parallel forces not all in the same plane, the magnitude of the resultant force </a:t>
                </a:r>
                <a:r>
                  <a:rPr lang="en-US" i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R</a:t>
                </a:r>
                <a:r>
                  <a:rPr lang="en-US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is simply the algebraic sum of the given forces.</a:t>
                </a:r>
              </a:p>
              <a:p>
                <a:pPr marL="349250" indent="0">
                  <a:buNone/>
                </a:pPr>
                <a:r>
                  <a:rPr lang="en-US" dirty="0">
                    <a:solidFill>
                      <a:srgbClr val="FFFF00"/>
                    </a:solidFill>
                  </a:rPr>
                  <a:t>The position of its line of action is obtained from the principle of moments by requiring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>
                    <a:solidFill>
                      <a:srgbClr val="FFFF00"/>
                    </a:solidFill>
                  </a:rPr>
                  <a:t>    </a:t>
                </a:r>
              </a:p>
              <a:p>
                <a:r>
                  <a:rPr lang="en-US" b="1" dirty="0">
                    <a:solidFill>
                      <a:srgbClr val="FF0000"/>
                    </a:solidFill>
                  </a:rPr>
                  <a:t>Coplanar Forces.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endParaRPr 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3260" y="907080"/>
                <a:ext cx="7517185" cy="5576020"/>
              </a:xfrm>
              <a:blipFill rotWithShape="0">
                <a:blip r:embed="rId4"/>
                <a:stretch>
                  <a:fillRect l="-1460" t="-1093" r="-1865" b="-2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663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113842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2.4. Resultants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3310" y="1823309"/>
            <a:ext cx="7016195" cy="48124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Wrench Resultant. </a:t>
            </a:r>
            <a:r>
              <a:rPr lang="en-US" sz="3200" b="1" dirty="0">
                <a:solidFill>
                  <a:schemeClr val="tx1"/>
                </a:solidFill>
              </a:rPr>
              <a:t>When the resultant couple vector is parallel to the resultant force R the resultant is called a </a:t>
            </a:r>
            <a:r>
              <a:rPr lang="en-US" sz="3200" b="1" dirty="0">
                <a:solidFill>
                  <a:srgbClr val="FF0000"/>
                </a:solidFill>
              </a:rPr>
              <a:t>wrench.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425" y="4229556"/>
            <a:ext cx="5507045" cy="213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390499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3310" y="1138425"/>
            <a:ext cx="7016195" cy="684885"/>
          </a:xfrm>
        </p:spPr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2.4. Resultants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823309"/>
            <a:ext cx="8390540" cy="481249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/>
                </a:solidFill>
              </a:rPr>
              <a:t>Any general force system may be represented by a wrench applied along a unique line of action.</a:t>
            </a:r>
          </a:p>
          <a:p>
            <a:endParaRPr lang="en-US" sz="3200" b="1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9" y="3186568"/>
            <a:ext cx="2028825" cy="2085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344" y="3056609"/>
            <a:ext cx="2143125" cy="1914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730" y="3335105"/>
            <a:ext cx="3152775" cy="133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6707" y="5407079"/>
            <a:ext cx="24384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335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70605" y="2824250"/>
            <a:ext cx="7772400" cy="1362075"/>
          </a:xfrm>
        </p:spPr>
        <p:txBody>
          <a:bodyPr>
            <a:noAutofit/>
          </a:bodyPr>
          <a:lstStyle/>
          <a:p>
            <a:r>
              <a:rPr lang="en-US" sz="8800" dirty="0"/>
              <a:t>Thank you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2516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6189</TotalTime>
  <Words>1181</Words>
  <Application>Microsoft Office PowerPoint</Application>
  <PresentationFormat>On-screen Show (4:3)</PresentationFormat>
  <Paragraphs>211</Paragraphs>
  <Slides>36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Calibri Light</vt:lpstr>
      <vt:lpstr>Cambria Math</vt:lpstr>
      <vt:lpstr>Consolas</vt:lpstr>
      <vt:lpstr>Symbol</vt:lpstr>
      <vt:lpstr>Times New Roman</vt:lpstr>
      <vt:lpstr>Wingdings</vt:lpstr>
      <vt:lpstr>Office Theme</vt:lpstr>
      <vt:lpstr>Equation</vt:lpstr>
      <vt:lpstr>Force System</vt:lpstr>
      <vt:lpstr>2.1 Introduction </vt:lpstr>
      <vt:lpstr>2.1 Introduction </vt:lpstr>
      <vt:lpstr>2.2.1. Resolution of a Force</vt:lpstr>
      <vt:lpstr>2.2.2. Non-Coplanar Force Systems (3-D)  </vt:lpstr>
      <vt:lpstr>Rectangular Components    </vt:lpstr>
      <vt:lpstr>Direction of force</vt:lpstr>
      <vt:lpstr>Cont….. </vt:lpstr>
      <vt:lpstr>Contd……………….  </vt:lpstr>
      <vt:lpstr>Rectangular Components   </vt:lpstr>
      <vt:lpstr>2.3. Moment, Couple &amp; Force-Couple systems</vt:lpstr>
      <vt:lpstr>Moment </vt:lpstr>
      <vt:lpstr>Moment </vt:lpstr>
      <vt:lpstr>Couple  </vt:lpstr>
      <vt:lpstr>Couple  </vt:lpstr>
      <vt:lpstr>Couple  </vt:lpstr>
      <vt:lpstr>Couple  </vt:lpstr>
      <vt:lpstr>Force-Couple System  </vt:lpstr>
      <vt:lpstr>2.3.2. Moment and Couple 3-D  </vt:lpstr>
      <vt:lpstr>Cross product </vt:lpstr>
      <vt:lpstr>2.3.2. Moment and Couple 3-D </vt:lpstr>
      <vt:lpstr>2.3.2. Moment and Couple 3-D </vt:lpstr>
      <vt:lpstr>2.3.2. Moment and Couple 3-D </vt:lpstr>
      <vt:lpstr>2.3.2. Moment and Couple 3-D </vt:lpstr>
      <vt:lpstr>2.3.2. Moment and Couple 3-D </vt:lpstr>
      <vt:lpstr>2.4. Resultants</vt:lpstr>
      <vt:lpstr>2.4. Resultants  </vt:lpstr>
      <vt:lpstr>2.4. Resultants  </vt:lpstr>
      <vt:lpstr>2.4. Resultants (2D) </vt:lpstr>
      <vt:lpstr>2.4. Resultants   </vt:lpstr>
      <vt:lpstr>2.4. Resultants    </vt:lpstr>
      <vt:lpstr>2.4. Resultants </vt:lpstr>
      <vt:lpstr>2.4. Resultants </vt:lpstr>
      <vt:lpstr>2.4. Resultants </vt:lpstr>
      <vt:lpstr>2.4. Resultants </vt:lpstr>
      <vt:lpstr>Thank you 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WIN-10X64-2020</cp:lastModifiedBy>
  <cp:revision>272</cp:revision>
  <cp:lastPrinted>2015-10-26T13:39:48Z</cp:lastPrinted>
  <dcterms:created xsi:type="dcterms:W3CDTF">2013-08-21T19:17:07Z</dcterms:created>
  <dcterms:modified xsi:type="dcterms:W3CDTF">2023-02-14T11:23:42Z</dcterms:modified>
</cp:coreProperties>
</file>