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1"/>
  </p:sldMasterIdLst>
  <p:notesMasterIdLst>
    <p:notesMasterId r:id="rId18"/>
  </p:notesMasterIdLst>
  <p:sldIdLst>
    <p:sldId id="256" r:id="rId2"/>
    <p:sldId id="261" r:id="rId3"/>
    <p:sldId id="259" r:id="rId4"/>
    <p:sldId id="260" r:id="rId5"/>
    <p:sldId id="266" r:id="rId6"/>
    <p:sldId id="267" r:id="rId7"/>
    <p:sldId id="262" r:id="rId8"/>
    <p:sldId id="268" r:id="rId9"/>
    <p:sldId id="263" r:id="rId10"/>
    <p:sldId id="276" r:id="rId11"/>
    <p:sldId id="277" r:id="rId12"/>
    <p:sldId id="278" r:id="rId13"/>
    <p:sldId id="281" r:id="rId14"/>
    <p:sldId id="282" r:id="rId15"/>
    <p:sldId id="279" r:id="rId16"/>
    <p:sldId id="280" r:id="rId1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43FF"/>
    <a:srgbClr val="FF0066"/>
    <a:srgbClr val="FF00FF"/>
    <a:srgbClr val="75016D"/>
    <a:srgbClr val="CC9900"/>
    <a:srgbClr val="FEAA02"/>
    <a:srgbClr val="D68B1C"/>
    <a:srgbClr val="D096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797" autoAdjust="0"/>
    <p:restoredTop sz="94660"/>
  </p:normalViewPr>
  <p:slideViewPr>
    <p:cSldViewPr>
      <p:cViewPr varScale="1">
        <p:scale>
          <a:sx n="74" d="100"/>
          <a:sy n="74" d="100"/>
        </p:scale>
        <p:origin x="1002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152705" cy="152705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FFDFC54-39BD-408B-A107-FC369A135240}" type="datetimeFigureOut">
              <a:rPr lang="en-US" smtClean="0"/>
              <a:t>11/21/2023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644E144-21CA-4C2D-AB47-372299F681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75223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11/21/2023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30162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11/21/2023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15208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11/21/2023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89860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11/21/2023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45885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11/21/2023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69267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11/21/2023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20935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11/21/2023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36897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11/21/2023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6799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11/21/2023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47963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11/21/2023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99167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11/21/2023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92350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74F12-AA26-4AC8-9962-C36BB8F32554}" type="datetimeFigureOut">
              <a:rPr lang="en-US" smtClean="0"/>
              <a:pPr/>
              <a:t>11/21/2023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59202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Equilibrium 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Engineering mechanics 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9203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17898" y="985720"/>
            <a:ext cx="7482545" cy="1143000"/>
          </a:xfrm>
        </p:spPr>
        <p:txBody>
          <a:bodyPr/>
          <a:lstStyle/>
          <a:p>
            <a:r>
              <a:rPr lang="en-US" dirty="0"/>
              <a:t>Equilibrium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17899" y="1901950"/>
            <a:ext cx="7482545" cy="4581150"/>
          </a:xfrm>
        </p:spPr>
        <p:txBody>
          <a:bodyPr/>
          <a:lstStyle/>
          <a:p>
            <a:pPr marL="0" indent="0">
              <a:buNone/>
            </a:pPr>
            <a:r>
              <a:rPr lang="en-US" sz="3200" dirty="0">
                <a:solidFill>
                  <a:schemeClr val="bg1"/>
                </a:solidFill>
              </a:rPr>
              <a:t>3.1. Introduction</a:t>
            </a:r>
          </a:p>
          <a:p>
            <a:r>
              <a:rPr lang="en-US" sz="3200" dirty="0" smtClean="0">
                <a:solidFill>
                  <a:schemeClr val="tx1"/>
                </a:solidFill>
              </a:rPr>
              <a:t>A </a:t>
            </a:r>
            <a:r>
              <a:rPr lang="en-US" sz="3200" dirty="0">
                <a:solidFill>
                  <a:schemeClr val="tx1"/>
                </a:solidFill>
              </a:rPr>
              <a:t>body is said to be in </a:t>
            </a:r>
            <a:r>
              <a:rPr lang="en-US" sz="3200" dirty="0">
                <a:solidFill>
                  <a:srgbClr val="FFFF00"/>
                </a:solidFill>
              </a:rPr>
              <a:t>equilibrium</a:t>
            </a:r>
            <a:r>
              <a:rPr lang="en-US" sz="3200" dirty="0">
                <a:solidFill>
                  <a:schemeClr val="tx1"/>
                </a:solidFill>
              </a:rPr>
              <a:t> when the </a:t>
            </a:r>
            <a:r>
              <a:rPr lang="en-US" sz="3200" dirty="0">
                <a:solidFill>
                  <a:srgbClr val="FFFF00"/>
                </a:solidFill>
              </a:rPr>
              <a:t>resultant of all the forces acting on it is </a:t>
            </a:r>
            <a:r>
              <a:rPr lang="en-US" sz="3600" b="1" dirty="0">
                <a:solidFill>
                  <a:srgbClr val="FF0000"/>
                </a:solidFill>
              </a:rPr>
              <a:t>zero</a:t>
            </a:r>
            <a:r>
              <a:rPr lang="en-US" sz="3200" dirty="0">
                <a:solidFill>
                  <a:srgbClr val="FFFF00"/>
                </a:solidFill>
              </a:rPr>
              <a:t> </a:t>
            </a:r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8720" y="4345230"/>
            <a:ext cx="4275740" cy="583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52372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517900" y="222195"/>
            <a:ext cx="7482545" cy="833015"/>
          </a:xfrm>
        </p:spPr>
        <p:txBody>
          <a:bodyPr>
            <a:normAutofit fontScale="90000"/>
          </a:bodyPr>
          <a:lstStyle/>
          <a:p>
            <a:r>
              <a:rPr lang="en-US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System 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Isolation and the Free Body Diagram 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1365196" y="1138424"/>
            <a:ext cx="7635250" cy="5582147"/>
          </a:xfrm>
        </p:spPr>
        <p:txBody>
          <a:bodyPr>
            <a:normAutofit/>
          </a:bodyPr>
          <a:lstStyle/>
          <a:p>
            <a:pPr marL="0" indent="0">
              <a:buNone/>
              <a:tabLst>
                <a:tab pos="1035050" algn="l"/>
              </a:tabLst>
            </a:pPr>
            <a:r>
              <a:rPr lang="en-US" sz="3200" dirty="0" smtClean="0">
                <a:solidFill>
                  <a:srgbClr val="FFFF00"/>
                </a:solidFill>
              </a:rPr>
              <a:t>Free  Body Diagram (FBD)</a:t>
            </a:r>
            <a:endParaRPr lang="en-US" sz="3200" dirty="0">
              <a:solidFill>
                <a:srgbClr val="FFFF00"/>
              </a:solidFill>
            </a:endParaRPr>
          </a:p>
          <a:p>
            <a:pPr>
              <a:tabLst>
                <a:tab pos="1035050" algn="l"/>
              </a:tabLst>
            </a:pPr>
            <a:r>
              <a:rPr lang="en-US" sz="3200" dirty="0" smtClean="0">
                <a:solidFill>
                  <a:srgbClr val="FFFF00"/>
                </a:solidFill>
              </a:rPr>
              <a:t>A mechanical system </a:t>
            </a:r>
            <a:r>
              <a:rPr lang="en-US" sz="3200" dirty="0" smtClean="0">
                <a:solidFill>
                  <a:schemeClr val="tx1"/>
                </a:solidFill>
              </a:rPr>
              <a:t>is defined as a body or group of bodies </a:t>
            </a:r>
            <a:r>
              <a:rPr lang="en-US" sz="3200" dirty="0" smtClean="0">
                <a:solidFill>
                  <a:schemeClr val="bg1"/>
                </a:solidFill>
              </a:rPr>
              <a:t>that can be conceptually isolated</a:t>
            </a:r>
            <a:r>
              <a:rPr lang="en-US" sz="3200" dirty="0" smtClean="0">
                <a:solidFill>
                  <a:schemeClr val="tx1"/>
                </a:solidFill>
              </a:rPr>
              <a:t> from all other bodies </a:t>
            </a:r>
          </a:p>
        </p:txBody>
      </p:sp>
    </p:spTree>
    <p:extLst>
      <p:ext uri="{BB962C8B-B14F-4D97-AF65-F5344CB8AC3E}">
        <p14:creationId xmlns:p14="http://schemas.microsoft.com/office/powerpoint/2010/main" val="11016338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1517900" y="222195"/>
            <a:ext cx="7482545" cy="5733300"/>
          </a:xfrm>
        </p:spPr>
        <p:txBody>
          <a:bodyPr/>
          <a:lstStyle/>
          <a:p>
            <a:pPr marL="0" indent="0">
              <a:buNone/>
            </a:pPr>
            <a:r>
              <a:rPr lang="en-US" b="1" i="1" dirty="0">
                <a:solidFill>
                  <a:srgbClr val="C00000"/>
                </a:solidFill>
              </a:rPr>
              <a:t>Modeling the action of forces </a:t>
            </a:r>
            <a:endParaRPr lang="en-US" b="1" i="1" dirty="0" smtClean="0">
              <a:solidFill>
                <a:srgbClr val="C00000"/>
              </a:solidFill>
            </a:endParaRPr>
          </a:p>
          <a:p>
            <a:r>
              <a:rPr lang="en-US" dirty="0" smtClean="0">
                <a:solidFill>
                  <a:schemeClr val="tx1"/>
                </a:solidFill>
              </a:rPr>
              <a:t>shows </a:t>
            </a:r>
            <a:r>
              <a:rPr lang="en-US" dirty="0">
                <a:solidFill>
                  <a:schemeClr val="tx1"/>
                </a:solidFill>
              </a:rPr>
              <a:t>the </a:t>
            </a:r>
            <a:r>
              <a:rPr lang="en-US" dirty="0">
                <a:solidFill>
                  <a:srgbClr val="FFFF00"/>
                </a:solidFill>
              </a:rPr>
              <a:t>external forces exerted on the rigid body</a:t>
            </a:r>
            <a:endParaRPr lang="en-US" dirty="0" smtClean="0">
              <a:solidFill>
                <a:srgbClr val="FFFF00"/>
              </a:solidFill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0605" y="1596540"/>
            <a:ext cx="7329840" cy="51919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71850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ntent Placeholder 1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517900" y="69491"/>
            <a:ext cx="7482545" cy="431696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17900" y="4236502"/>
            <a:ext cx="7482545" cy="26214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09569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1517900" y="902505"/>
            <a:ext cx="7482545" cy="5733300"/>
          </a:xfrm>
        </p:spPr>
        <p:txBody>
          <a:bodyPr/>
          <a:lstStyle/>
          <a:p>
            <a:pPr marL="0" indent="0">
              <a:buNone/>
            </a:pPr>
            <a:r>
              <a:rPr lang="en-US" dirty="0" smtClean="0"/>
              <a:t>  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9857" y="56577"/>
            <a:ext cx="7550588" cy="63285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52393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1365195" y="71320"/>
            <a:ext cx="7482545" cy="57333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b="1" dirty="0" smtClean="0">
                <a:solidFill>
                  <a:schemeClr val="tx1"/>
                </a:solidFill>
              </a:rPr>
              <a:t>Categories of Equilibrium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4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Category 1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equilibrium of </a:t>
            </a:r>
            <a:r>
              <a:rPr lang="en-US" sz="2400" dirty="0" smtClean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collinear</a:t>
            </a:r>
            <a:r>
              <a:rPr lang="en-US" sz="24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forces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4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Category 2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equilibrium of </a:t>
            </a:r>
            <a:r>
              <a:rPr lang="en-US" sz="2400" dirty="0" smtClean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concurrent</a:t>
            </a:r>
            <a:r>
              <a:rPr lang="en-US" sz="24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forces </a:t>
            </a: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24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Category 3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equilibrium of </a:t>
            </a:r>
            <a:r>
              <a:rPr lang="en-US" sz="2400" dirty="0" smtClean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parallel</a:t>
            </a:r>
            <a:r>
              <a:rPr lang="en-US" sz="24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forces in a plane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4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Category 4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equilibrium of a </a:t>
            </a:r>
            <a:r>
              <a:rPr lang="en-US" sz="2400" dirty="0" smtClean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general</a:t>
            </a:r>
            <a:r>
              <a:rPr lang="en-US" sz="24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system of forces in a plane  </a:t>
            </a:r>
          </a:p>
        </p:txBody>
      </p:sp>
    </p:spTree>
    <p:extLst>
      <p:ext uri="{BB962C8B-B14F-4D97-AF65-F5344CB8AC3E}">
        <p14:creationId xmlns:p14="http://schemas.microsoft.com/office/powerpoint/2010/main" val="7995429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ntent Placeholder 1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517900" y="1"/>
            <a:ext cx="7482545" cy="6576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36823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1517900" y="0"/>
            <a:ext cx="7482545" cy="5733300"/>
          </a:xfrm>
        </p:spPr>
        <p:txBody>
          <a:bodyPr/>
          <a:lstStyle/>
          <a:p>
            <a:r>
              <a:rPr lang="en-US" sz="3200" b="1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Constraints and </a:t>
            </a:r>
            <a:r>
              <a:rPr lang="en-US" sz="3200" b="1" dirty="0" err="1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Statical</a:t>
            </a:r>
            <a:r>
              <a:rPr lang="en-US" sz="3200" b="1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Determinacy </a:t>
            </a:r>
            <a:endParaRPr lang="en-US" dirty="0" smtClean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 smtClean="0">
                <a:solidFill>
                  <a:srgbClr val="C00000"/>
                </a:solidFill>
              </a:rPr>
              <a:t>Statically determinate</a:t>
            </a:r>
            <a:r>
              <a:rPr lang="en-US" dirty="0" smtClean="0">
                <a:solidFill>
                  <a:schemeClr val="tx1"/>
                </a:solidFill>
              </a:rPr>
              <a:t>: no of constraints = no of equilibrium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i="1" dirty="0" smtClean="0">
                <a:solidFill>
                  <a:srgbClr val="C00000"/>
                </a:solidFill>
              </a:rPr>
              <a:t>Statically indeterminate: </a:t>
            </a:r>
            <a:r>
              <a:rPr lang="en-US" sz="3200" dirty="0" smtClean="0">
                <a:solidFill>
                  <a:schemeClr val="tx1"/>
                </a:solidFill>
              </a:rPr>
              <a:t>no </a:t>
            </a:r>
            <a:r>
              <a:rPr lang="en-US" sz="3200" dirty="0">
                <a:solidFill>
                  <a:schemeClr val="tx1"/>
                </a:solidFill>
              </a:rPr>
              <a:t>of constraints </a:t>
            </a:r>
            <a:r>
              <a:rPr lang="en-US" sz="3200" dirty="0" smtClean="0">
                <a:solidFill>
                  <a:schemeClr val="tx1"/>
                </a:solidFill>
              </a:rPr>
              <a:t>&gt; </a:t>
            </a:r>
            <a:r>
              <a:rPr lang="en-US" sz="3200" dirty="0">
                <a:solidFill>
                  <a:schemeClr val="tx1"/>
                </a:solidFill>
              </a:rPr>
              <a:t>no of </a:t>
            </a:r>
            <a:r>
              <a:rPr lang="en-US" sz="3200" dirty="0" smtClean="0">
                <a:solidFill>
                  <a:schemeClr val="tx1"/>
                </a:solidFill>
              </a:rPr>
              <a:t>equilibrium</a:t>
            </a:r>
            <a:endParaRPr lang="en-US" sz="3200" i="1" dirty="0" smtClean="0">
              <a:solidFill>
                <a:srgbClr val="C00000"/>
              </a:solidFill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3200" i="1" dirty="0" smtClean="0">
                <a:solidFill>
                  <a:srgbClr val="C00000"/>
                </a:solidFill>
              </a:rPr>
              <a:t>Redundant: </a:t>
            </a:r>
            <a:r>
              <a:rPr lang="en-US" sz="2400" dirty="0" smtClean="0">
                <a:solidFill>
                  <a:schemeClr val="tx1"/>
                </a:solidFill>
              </a:rPr>
              <a:t>Supports which can be removed without destroying the equilibrium condition of the body</a:t>
            </a:r>
            <a:endParaRPr lang="en-US" sz="2400" i="1" dirty="0" smtClean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endParaRPr lang="en-US" sz="3200" i="1" dirty="0" smtClean="0">
              <a:solidFill>
                <a:srgbClr val="C00000"/>
              </a:solidFill>
            </a:endParaRPr>
          </a:p>
          <a:p>
            <a:endParaRPr lang="en-US" sz="3200" i="1" dirty="0" smtClean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694272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517900" y="69490"/>
            <a:ext cx="7482545" cy="833015"/>
          </a:xfrm>
        </p:spPr>
        <p:txBody>
          <a:bodyPr/>
          <a:lstStyle/>
          <a:p>
            <a:r>
              <a:rPr lang="en-US" dirty="0" smtClean="0"/>
              <a:t>3.3. </a:t>
            </a:r>
            <a:r>
              <a:rPr lang="en-US" dirty="0"/>
              <a:t>Equilibrium </a:t>
            </a:r>
            <a:r>
              <a:rPr lang="en-US" dirty="0" smtClean="0"/>
              <a:t>in Three-Dimensions   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1517900" y="833016"/>
            <a:ext cx="7482545" cy="5955494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 smtClean="0">
              <a:solidFill>
                <a:schemeClr val="tx1"/>
              </a:solidFill>
            </a:endParaRPr>
          </a:p>
          <a:p>
            <a:endParaRPr lang="en-US" dirty="0">
              <a:solidFill>
                <a:schemeClr val="tx1"/>
              </a:solidFill>
            </a:endParaRPr>
          </a:p>
          <a:p>
            <a:endParaRPr lang="en-US" dirty="0" smtClean="0">
              <a:solidFill>
                <a:schemeClr val="tx1"/>
              </a:solidFill>
            </a:endParaRPr>
          </a:p>
          <a:p>
            <a:endParaRPr lang="en-US" dirty="0">
              <a:solidFill>
                <a:schemeClr val="tx1"/>
              </a:solidFill>
            </a:endParaRPr>
          </a:p>
          <a:p>
            <a:endParaRPr lang="en-US" dirty="0" smtClean="0">
              <a:solidFill>
                <a:schemeClr val="tx1"/>
              </a:solidFill>
            </a:endParaRPr>
          </a:p>
          <a:p>
            <a:endParaRPr lang="en-US" dirty="0">
              <a:solidFill>
                <a:schemeClr val="tx1"/>
              </a:solidFill>
            </a:endParaRPr>
          </a:p>
          <a:p>
            <a:endParaRPr lang="en-US" dirty="0" smtClean="0">
              <a:solidFill>
                <a:schemeClr val="tx1"/>
              </a:solidFill>
            </a:endParaRPr>
          </a:p>
          <a:p>
            <a:endParaRPr lang="en-US" b="1" dirty="0" smtClean="0">
              <a:solidFill>
                <a:srgbClr val="C00000"/>
              </a:solidFill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28720" y="1291130"/>
            <a:ext cx="5191970" cy="3664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42522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517900" y="69490"/>
            <a:ext cx="7482545" cy="833015"/>
          </a:xfrm>
        </p:spPr>
        <p:txBody>
          <a:bodyPr/>
          <a:lstStyle/>
          <a:p>
            <a:r>
              <a:rPr lang="en-US" dirty="0" smtClean="0"/>
              <a:t>3.3. </a:t>
            </a:r>
            <a:r>
              <a:rPr lang="en-US" dirty="0"/>
              <a:t>Equilibrium </a:t>
            </a:r>
            <a:r>
              <a:rPr lang="en-US" dirty="0" smtClean="0"/>
              <a:t>in Three-Dimensions   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1517900" y="902505"/>
            <a:ext cx="7482545" cy="5733300"/>
          </a:xfrm>
        </p:spPr>
        <p:txBody>
          <a:bodyPr/>
          <a:lstStyle/>
          <a:p>
            <a:pPr marL="0" indent="0">
              <a:buNone/>
            </a:pPr>
            <a:r>
              <a:rPr lang="en-US" b="1" i="1" dirty="0">
                <a:solidFill>
                  <a:srgbClr val="FFFF00"/>
                </a:solidFill>
              </a:rPr>
              <a:t>Modeling the action of forces </a:t>
            </a:r>
          </a:p>
          <a:p>
            <a:pPr marL="0" indent="0">
              <a:buNone/>
            </a:pPr>
            <a:r>
              <a:rPr lang="en-US" b="1" dirty="0" smtClean="0">
                <a:solidFill>
                  <a:srgbClr val="C00000"/>
                </a:solidFill>
              </a:rPr>
              <a:t> </a:t>
            </a:r>
            <a:endParaRPr lang="en-US" b="1" dirty="0">
              <a:solidFill>
                <a:srgbClr val="C00000"/>
              </a:solidFill>
            </a:endParaRPr>
          </a:p>
          <a:p>
            <a:endParaRPr lang="en-US" b="1" dirty="0" smtClean="0">
              <a:solidFill>
                <a:srgbClr val="C00000"/>
              </a:solidFill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083" y="1492672"/>
            <a:ext cx="8146128" cy="298461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1670" y="4477282"/>
            <a:ext cx="8146128" cy="23112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78284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517900" y="69490"/>
            <a:ext cx="7482545" cy="833015"/>
          </a:xfrm>
        </p:spPr>
        <p:txBody>
          <a:bodyPr/>
          <a:lstStyle/>
          <a:p>
            <a:r>
              <a:rPr lang="en-US" dirty="0" smtClean="0"/>
              <a:t>3.3. </a:t>
            </a:r>
            <a:r>
              <a:rPr lang="en-US" dirty="0"/>
              <a:t>Equilibrium </a:t>
            </a:r>
            <a:r>
              <a:rPr lang="en-US" dirty="0" smtClean="0"/>
              <a:t>in Three-Dimensions   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1517900" y="902505"/>
            <a:ext cx="7482545" cy="5733300"/>
          </a:xfrm>
        </p:spPr>
        <p:txBody>
          <a:bodyPr/>
          <a:lstStyle/>
          <a:p>
            <a:pPr marL="0" indent="0">
              <a:buNone/>
            </a:pPr>
            <a:r>
              <a:rPr lang="en-US" b="1" i="1" dirty="0">
                <a:solidFill>
                  <a:srgbClr val="FFFF00"/>
                </a:solidFill>
              </a:rPr>
              <a:t>Modeling the action of forces </a:t>
            </a:r>
          </a:p>
          <a:p>
            <a:pPr marL="0" indent="0">
              <a:buNone/>
            </a:pPr>
            <a:r>
              <a:rPr lang="en-US" b="1" dirty="0">
                <a:solidFill>
                  <a:srgbClr val="C00000"/>
                </a:solidFill>
              </a:rPr>
              <a:t> </a:t>
            </a:r>
            <a:r>
              <a:rPr lang="en-US" b="1" dirty="0" smtClean="0">
                <a:solidFill>
                  <a:srgbClr val="C00000"/>
                </a:solidFill>
              </a:rPr>
              <a:t> </a:t>
            </a:r>
            <a:endParaRPr lang="en-US" b="1" dirty="0">
              <a:solidFill>
                <a:srgbClr val="C00000"/>
              </a:solidFill>
            </a:endParaRPr>
          </a:p>
          <a:p>
            <a:endParaRPr lang="en-US" b="1" dirty="0" smtClean="0">
              <a:solidFill>
                <a:srgbClr val="C00000"/>
              </a:solidFill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671" y="1420936"/>
            <a:ext cx="8246070" cy="2087899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1671" y="3508836"/>
            <a:ext cx="8246070" cy="3349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35132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736323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290017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517900" y="69490"/>
            <a:ext cx="7482545" cy="833015"/>
          </a:xfrm>
        </p:spPr>
        <p:txBody>
          <a:bodyPr/>
          <a:lstStyle/>
          <a:p>
            <a:r>
              <a:rPr lang="en-US" dirty="0" smtClean="0"/>
              <a:t>3.3. </a:t>
            </a:r>
            <a:r>
              <a:rPr lang="en-US" dirty="0"/>
              <a:t>Equilibrium </a:t>
            </a:r>
            <a:r>
              <a:rPr lang="en-US" dirty="0" smtClean="0"/>
              <a:t>in Three-Dimensions   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1517900" y="680310"/>
            <a:ext cx="7482545" cy="5955495"/>
          </a:xfrm>
        </p:spPr>
        <p:txBody>
          <a:bodyPr/>
          <a:lstStyle/>
          <a:p>
            <a:pPr marL="0" indent="0">
              <a:buNone/>
            </a:pPr>
            <a:r>
              <a:rPr lang="en-US" b="1" dirty="0" smtClean="0">
                <a:solidFill>
                  <a:srgbClr val="FFFF00"/>
                </a:solidFill>
              </a:rPr>
              <a:t>Categories </a:t>
            </a:r>
            <a:r>
              <a:rPr lang="en-US" b="1" dirty="0">
                <a:solidFill>
                  <a:srgbClr val="FFFF00"/>
                </a:solidFill>
              </a:rPr>
              <a:t>of Equilibrium</a:t>
            </a:r>
          </a:p>
          <a:p>
            <a:endParaRPr lang="en-US" b="1" dirty="0">
              <a:solidFill>
                <a:srgbClr val="C00000"/>
              </a:solidFill>
            </a:endParaRPr>
          </a:p>
          <a:p>
            <a:endParaRPr lang="en-US" b="1" dirty="0" smtClean="0">
              <a:solidFill>
                <a:srgbClr val="C00000"/>
              </a:solidFill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1425" y="1118462"/>
            <a:ext cx="5191970" cy="1716113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1425" y="2825561"/>
            <a:ext cx="5191970" cy="1521911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81425" y="4314780"/>
            <a:ext cx="5191970" cy="1287023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81425" y="5378657"/>
            <a:ext cx="5191970" cy="14802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2619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			QUIZ(5%(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Are you in equilibrium or not? justify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29859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2531</TotalTime>
  <Words>194</Words>
  <Application>Microsoft Office PowerPoint</Application>
  <PresentationFormat>On-screen Show (4:3)</PresentationFormat>
  <Paragraphs>37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Arial</vt:lpstr>
      <vt:lpstr>Calibri</vt:lpstr>
      <vt:lpstr>Calibri Light</vt:lpstr>
      <vt:lpstr>Times New Roman</vt:lpstr>
      <vt:lpstr>Wingdings</vt:lpstr>
      <vt:lpstr>Office Theme</vt:lpstr>
      <vt:lpstr>Equilibrium </vt:lpstr>
      <vt:lpstr>Equilibrium </vt:lpstr>
      <vt:lpstr>System Isolation and the Free Body Diagram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3.3. Equilibrium in Three-Dimensions   </vt:lpstr>
      <vt:lpstr>3.3. Equilibrium in Three-Dimensions   </vt:lpstr>
      <vt:lpstr>3.3. Equilibrium in Three-Dimensions   </vt:lpstr>
      <vt:lpstr>PowerPoint Presentation</vt:lpstr>
      <vt:lpstr>PowerPoint Presentation</vt:lpstr>
      <vt:lpstr>3.3. Equilibrium in Three-Dimensions   </vt:lpstr>
      <vt:lpstr>   QUIZ(5%(</vt:lpstr>
    </vt:vector>
  </TitlesOfParts>
  <Company>Microsoft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Julian</dc:creator>
  <cp:lastModifiedBy>WIN-10X64-2020</cp:lastModifiedBy>
  <cp:revision>88</cp:revision>
  <dcterms:created xsi:type="dcterms:W3CDTF">2013-08-21T19:17:07Z</dcterms:created>
  <dcterms:modified xsi:type="dcterms:W3CDTF">2023-11-21T12:22:16Z</dcterms:modified>
</cp:coreProperties>
</file>