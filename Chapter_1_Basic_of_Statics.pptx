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66" r:id="rId3"/>
    <p:sldId id="303" r:id="rId4"/>
    <p:sldId id="268" r:id="rId5"/>
    <p:sldId id="270" r:id="rId6"/>
    <p:sldId id="272" r:id="rId7"/>
    <p:sldId id="274" r:id="rId8"/>
    <p:sldId id="275" r:id="rId9"/>
    <p:sldId id="301" r:id="rId10"/>
    <p:sldId id="302" r:id="rId11"/>
    <p:sldId id="276" r:id="rId12"/>
    <p:sldId id="277" r:id="rId13"/>
    <p:sldId id="279" r:id="rId14"/>
    <p:sldId id="280" r:id="rId15"/>
    <p:sldId id="281" r:id="rId16"/>
    <p:sldId id="283" r:id="rId17"/>
    <p:sldId id="284" r:id="rId18"/>
    <p:sldId id="286" r:id="rId19"/>
    <p:sldId id="285" r:id="rId20"/>
    <p:sldId id="287" r:id="rId21"/>
    <p:sldId id="294" r:id="rId22"/>
    <p:sldId id="296" r:id="rId23"/>
    <p:sldId id="297" r:id="rId24"/>
    <p:sldId id="298" r:id="rId25"/>
    <p:sldId id="299" r:id="rId26"/>
    <p:sldId id="300" r:id="rId27"/>
    <p:sldId id="289" r:id="rId28"/>
    <p:sldId id="290" r:id="rId29"/>
    <p:sldId id="291" r:id="rId30"/>
    <p:sldId id="293" r:id="rId3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orient="horz" pos="192">
          <p15:clr>
            <a:srgbClr val="A4A3A4"/>
          </p15:clr>
        </p15:guide>
        <p15:guide id="3" orient="horz" pos="96">
          <p15:clr>
            <a:srgbClr val="A4A3A4"/>
          </p15:clr>
        </p15:guide>
        <p15:guide id="4">
          <p15:clr>
            <a:srgbClr val="A4A3A4"/>
          </p15:clr>
        </p15:guide>
        <p15:guide id="5" pos="48">
          <p15:clr>
            <a:srgbClr val="A4A3A4"/>
          </p15:clr>
        </p15:guide>
        <p15:guide id="6" pos="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3025"/>
    <a:srgbClr val="333333"/>
    <a:srgbClr val="800040"/>
    <a:srgbClr val="0E06B6"/>
    <a:srgbClr val="FF0080"/>
    <a:srgbClr val="F2FDF7"/>
    <a:srgbClr val="CC66FF"/>
    <a:srgbClr val="6666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4" autoAdjust="0"/>
    <p:restoredTop sz="92980" autoAdjust="0"/>
  </p:normalViewPr>
  <p:slideViewPr>
    <p:cSldViewPr snapToObjects="1">
      <p:cViewPr varScale="1">
        <p:scale>
          <a:sx n="69" d="100"/>
          <a:sy n="69" d="100"/>
        </p:scale>
        <p:origin x="1530" y="72"/>
      </p:cViewPr>
      <p:guideLst>
        <p:guide orient="horz"/>
        <p:guide orient="horz" pos="192"/>
        <p:guide orient="horz" pos="96"/>
        <p:guide/>
        <p:guide pos="48"/>
        <p:guide pos="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3E656D9-1C4A-4961-B822-69096B6150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05823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A8C3428-5E3E-498C-82A5-68033D91C8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04836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0E679A-7C3C-4BFF-8F28-0879595BFA43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5713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morning?</a:t>
            </a:r>
          </a:p>
          <a:p>
            <a:r>
              <a:rPr lang="en-US" dirty="0"/>
              <a:t>Today we will see, …</a:t>
            </a:r>
          </a:p>
          <a:p>
            <a:r>
              <a:rPr lang="en-US" dirty="0"/>
              <a:t> we will begin with brainstorming questions that  such as:…</a:t>
            </a:r>
          </a:p>
          <a:p>
            <a:pPr marL="483176" indent="-483176">
              <a:buAutoNum type="arabicPeriod"/>
            </a:pPr>
            <a:r>
              <a:rPr lang="en-US" dirty="0"/>
              <a:t>How could define …?</a:t>
            </a:r>
          </a:p>
          <a:p>
            <a:pPr marL="483176" indent="-483176">
              <a:buAutoNum type="arabicPeriod"/>
            </a:pPr>
            <a:r>
              <a:rPr lang="en-US" dirty="0"/>
              <a:t>Why it is important to …?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E2665F-90CB-49CC-B1A2-4E5FC81555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571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8C3428-5E3E-498C-82A5-68033D91C828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765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8" descr="rainbowdirt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8"/>
          <p:cNvSpPr txBox="1">
            <a:spLocks noChangeArrowheads="1"/>
          </p:cNvSpPr>
          <p:nvPr userDrawn="1"/>
        </p:nvSpPr>
        <p:spPr bwMode="auto">
          <a:xfrm rot="19237452">
            <a:off x="4622800" y="5191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96975"/>
            <a:ext cx="7772400" cy="1470025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52750"/>
            <a:ext cx="6400800" cy="1752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DC3EA8F-0EA2-4DF5-B4D2-242720A40D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4289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460EC7-2505-4528-9590-2EC5143848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720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F9B259-E29B-43A3-BD0B-50AE98BE47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7221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38600" cy="3700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3700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9A2966-8A88-4E15-BB0E-D2ACA48322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1811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D0BD9-80BF-483B-8AF9-918FD80B3D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1700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8D92EA-5836-466D-A68E-7D66DCE070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5177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3E184C-A743-4C37-8A50-2894171038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8689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345A2-6F25-4F16-AE88-DB5A62ED2D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7036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E597C9-6A86-4B5E-9960-D320804A68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1586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5473A9-0787-4D84-AF9F-AFC5D5D1F7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2205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44926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44926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986424-A0DB-404B-B5B6-A3BF737F99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2944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066800"/>
            <a:ext cx="8229600" cy="3700463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03E77-5694-42C3-BDF8-E560BDD4B9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27032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66800"/>
            <a:ext cx="4038600" cy="3700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3700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BF5DB2-0897-42DD-ADA0-AE888C7D8E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7057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4" descr="rainbowdirt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229600" cy="370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AA1E7B05-9200-409F-8B3E-CC49CA36C6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1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1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93"/>
          <p:cNvSpPr txBox="1">
            <a:spLocks noChangeArrowheads="1"/>
          </p:cNvSpPr>
          <p:nvPr/>
        </p:nvSpPr>
        <p:spPr bwMode="auto">
          <a:xfrm>
            <a:off x="-1082263" y="898525"/>
            <a:ext cx="853440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95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88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Engineering Mechanics I </a:t>
            </a:r>
          </a:p>
        </p:txBody>
      </p:sp>
      <p:sp>
        <p:nvSpPr>
          <p:cNvPr id="2138" name="Text Box 90"/>
          <p:cNvSpPr txBox="1">
            <a:spLocks noChangeArrowheads="1"/>
          </p:cNvSpPr>
          <p:nvPr/>
        </p:nvSpPr>
        <p:spPr bwMode="auto">
          <a:xfrm>
            <a:off x="0" y="3500854"/>
            <a:ext cx="9036496" cy="318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27000" dist="35921" dir="2700000" algn="ctr" rotWithShape="0">
                    <a:schemeClr val="bg2">
                      <a:alpha val="95000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Addis Ababa Science and Technology University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                  </a:t>
            </a:r>
            <a:r>
              <a:rPr lang="en-US" altLang="en-US" sz="2800" dirty="0" err="1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Animut.A</a:t>
            </a:r>
            <a:endParaRPr lang="en-US" altLang="en-US" sz="2800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 eaLnBrk="1" hangingPunct="1">
              <a:spcBef>
                <a:spcPct val="50000"/>
              </a:spcBef>
              <a:defRPr/>
            </a:pPr>
            <a:endParaRPr lang="en-US" altLang="en-US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 eaLnBrk="1" hangingPunct="1">
              <a:spcBef>
                <a:spcPct val="50000"/>
              </a:spcBef>
              <a:defRPr/>
            </a:pPr>
            <a:endParaRPr lang="en-US" altLang="en-US" sz="7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FF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 Introduction  </a:t>
            </a:r>
            <a:r>
              <a:rPr lang="en-US" dirty="0">
                <a:solidFill>
                  <a:srgbClr val="FF0080"/>
                </a:solidFill>
              </a:rPr>
              <a:t/>
            </a:r>
            <a:br>
              <a:rPr lang="en-US" dirty="0">
                <a:solidFill>
                  <a:srgbClr val="FF008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28700"/>
            <a:ext cx="8229600" cy="5832648"/>
          </a:xfrm>
        </p:spPr>
        <p:txBody>
          <a:bodyPr/>
          <a:lstStyle/>
          <a:p>
            <a:r>
              <a:rPr lang="en-US" b="1" dirty="0">
                <a:solidFill>
                  <a:srgbClr val="FF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Mechanics</a:t>
            </a:r>
            <a:r>
              <a:rPr lang="en-US" sz="4000" b="1" dirty="0"/>
              <a:t> </a:t>
            </a:r>
            <a:r>
              <a:rPr lang="en-US" dirty="0"/>
              <a:t>is an area of science concerned with the behavior of physical bodies when subjected to forces or displacement. </a:t>
            </a:r>
          </a:p>
          <a:p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002060"/>
                </a:solidFill>
              </a:rPr>
              <a:t>Translation </a:t>
            </a:r>
          </a:p>
          <a:p>
            <a:pPr marL="0" indent="0" algn="ctr">
              <a:buNone/>
            </a:pPr>
            <a:endParaRPr lang="en-US" sz="28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endParaRPr lang="en-US" sz="28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endParaRPr lang="en-US" sz="28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2800" b="1" dirty="0">
                <a:solidFill>
                  <a:srgbClr val="002060"/>
                </a:solidFill>
              </a:rPr>
              <a:t>Rotation </a:t>
            </a:r>
          </a:p>
          <a:p>
            <a:pPr marL="0" indent="0" algn="ctr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2782144" y="3066848"/>
            <a:ext cx="792088" cy="792088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coolSlant"/>
            <a:bevelB w="82550" h="44450" prst="angle"/>
            <a:contourClr>
              <a:srgbClr val="FFFFFF"/>
            </a:contourClr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1817694" y="3264870"/>
            <a:ext cx="684076" cy="3960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935596" y="3264870"/>
            <a:ext cx="684076" cy="3960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99176" y="3066848"/>
            <a:ext cx="792088" cy="792088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coolSlant"/>
            <a:bevelB w="82550" h="44450" prst="angle"/>
            <a:contourClr>
              <a:srgbClr val="FFFFFF"/>
            </a:contourClr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175956" y="3021986"/>
            <a:ext cx="792088" cy="79208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59832" y="4545124"/>
            <a:ext cx="216024" cy="151216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isometricRightUp"/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2098068" y="4546196"/>
            <a:ext cx="684076" cy="39604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 rot="2881907">
            <a:off x="5084660" y="4669957"/>
            <a:ext cx="333627" cy="164355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isometricRightUp"/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9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982" y="844749"/>
            <a:ext cx="8972203" cy="5181600"/>
          </a:xfrm>
        </p:spPr>
        <p:txBody>
          <a:bodyPr lIns="91440" tIns="91440" anchor="t" anchorCtr="0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u="sng" dirty="0"/>
              <a:t>What is mechanics and its application </a:t>
            </a:r>
            <a:r>
              <a:rPr lang="en-US" u="sng" dirty="0" smtClean="0"/>
              <a:t> </a:t>
            </a:r>
            <a:r>
              <a:rPr lang="en-US" u="sng" dirty="0"/>
              <a:t>Engineering science?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Mechanics is the physical science which deals with the effects of forces on objects. It is divided into three parts: </a:t>
            </a:r>
          </a:p>
          <a:p>
            <a:pPr lvl="3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mechanics of rigid bodies, </a:t>
            </a:r>
          </a:p>
          <a:p>
            <a:pPr lvl="3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mechanics of deformable bodies, and </a:t>
            </a:r>
          </a:p>
          <a:p>
            <a:pPr lvl="3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mechanics of fluids.</a:t>
            </a:r>
          </a:p>
          <a:p>
            <a:pPr marL="457200" lvl="3" indent="-4572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Mechanics of rigid bodies includes</a:t>
            </a:r>
          </a:p>
          <a:p>
            <a:pPr lvl="3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ü"/>
            </a:pPr>
            <a:r>
              <a:rPr lang="en-US" sz="28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Statics </a:t>
            </a:r>
            <a:endParaRPr lang="en-US" sz="28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ü"/>
            </a:pPr>
            <a:r>
              <a:rPr lang="en-US" sz="28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Dynamics </a:t>
            </a:r>
            <a:endParaRPr lang="en-US" sz="28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rgbClr val="FFFF00"/>
              </a:buClr>
              <a:buNone/>
            </a:pPr>
            <a:r>
              <a:rPr lang="en-US" dirty="0">
                <a:solidFill>
                  <a:srgbClr val="FFFF00"/>
                </a:solidFill>
              </a:rPr>
              <a:t>. </a:t>
            </a:r>
          </a:p>
          <a:p>
            <a:pPr marL="0" indent="0" algn="ctr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209204"/>
            <a:ext cx="9144000" cy="499004"/>
          </a:xfrm>
          <a:solidFill>
            <a:srgbClr val="FFFF00"/>
          </a:solidFill>
          <a:ln>
            <a:noFill/>
          </a:ln>
        </p:spPr>
        <p:txBody>
          <a:bodyPr lIns="91440">
            <a:noAutofit/>
          </a:bodyPr>
          <a:lstStyle/>
          <a:p>
            <a:pPr algn="ctr"/>
            <a:r>
              <a:rPr lang="en-US" altLang="en-US" sz="3200" b="1" dirty="0"/>
              <a:t/>
            </a:r>
            <a:br>
              <a:rPr lang="en-US" altLang="en-US" sz="3200" b="1" dirty="0"/>
            </a:br>
            <a:r>
              <a:rPr lang="en-US" altLang="en-US" sz="3200" b="1" dirty="0"/>
              <a:t>1.1 Introduction</a:t>
            </a:r>
            <a:br>
              <a:rPr lang="en-US" altLang="en-US" sz="3200" b="1" dirty="0"/>
            </a:br>
            <a:endParaRPr lang="en-US" sz="3200" b="1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35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96862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1.2 Basic Concepts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507288" cy="6048672"/>
          </a:xfrm>
        </p:spPr>
        <p:txBody>
          <a:bodyPr/>
          <a:lstStyle/>
          <a:p>
            <a:r>
              <a:rPr lang="en-US" sz="2400" b="1" dirty="0"/>
              <a:t>The following definition and concepts are basic to the study of mechanics. </a:t>
            </a:r>
          </a:p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Space:</a:t>
            </a:r>
            <a:r>
              <a:rPr lang="en-US" sz="2400" dirty="0"/>
              <a:t> geometric region occupied by bodies </a:t>
            </a:r>
          </a:p>
          <a:p>
            <a:endParaRPr lang="en-US" sz="2400" dirty="0"/>
          </a:p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Time:</a:t>
            </a:r>
            <a:r>
              <a:rPr lang="en-US" sz="2400" dirty="0"/>
              <a:t> the measure of the succession of events</a:t>
            </a:r>
          </a:p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Mass:</a:t>
            </a:r>
            <a:r>
              <a:rPr lang="en-US" sz="2400" dirty="0"/>
              <a:t> measure of inertia of a body. Mass can also be thought of as the quantity of matter in a body</a:t>
            </a:r>
          </a:p>
          <a:p>
            <a:endParaRPr lang="en-US" sz="2400" dirty="0"/>
          </a:p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Force:</a:t>
            </a:r>
            <a:r>
              <a:rPr lang="en-US" sz="2400" dirty="0"/>
              <a:t> the action of one body on other. It tends to move a body in its direction of action</a:t>
            </a:r>
          </a:p>
          <a:p>
            <a:endParaRPr lang="en-US" sz="2400" dirty="0"/>
          </a:p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Particle:</a:t>
            </a:r>
            <a:r>
              <a:rPr lang="en-US" sz="2400" dirty="0"/>
              <a:t> a body of negligible dimensions</a:t>
            </a:r>
          </a:p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Rigid body: </a:t>
            </a:r>
            <a:r>
              <a:rPr lang="en-US" sz="2400" dirty="0"/>
              <a:t>a body is considered rigid when the change in distance between any two of its points is negligible.       </a:t>
            </a:r>
          </a:p>
        </p:txBody>
      </p:sp>
    </p:spTree>
    <p:extLst>
      <p:ext uri="{BB962C8B-B14F-4D97-AF65-F5344CB8AC3E}">
        <p14:creationId xmlns:p14="http://schemas.microsoft.com/office/powerpoint/2010/main" val="272951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96862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Fundamental Principles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56692"/>
            <a:ext cx="8229600" cy="5904656"/>
          </a:xfrm>
        </p:spPr>
        <p:txBody>
          <a:bodyPr/>
          <a:lstStyle/>
          <a:p>
            <a:r>
              <a:rPr lang="en-US" sz="3600" b="1" dirty="0">
                <a:solidFill>
                  <a:srgbClr val="FFC000"/>
                </a:solidFill>
              </a:rPr>
              <a:t>The three laws of newton 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First law: </a:t>
            </a:r>
            <a:r>
              <a:rPr lang="en-US" sz="2800" dirty="0"/>
              <a:t>a particle remain at rest or continues to move in a straight line with a uniform velocity if there is no unbalanced force acting on it  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Second law: </a:t>
            </a:r>
            <a:r>
              <a:rPr lang="en-US" sz="2800" dirty="0"/>
              <a:t>the acceleration of a particle is proportional to the resultant force acting on it and its in the direction of this resultant force  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Third law: </a:t>
            </a:r>
            <a:r>
              <a:rPr lang="en-US" sz="2800" dirty="0"/>
              <a:t>the forces of action and reaction of interacting are equal in magnitude, opposite in direction and collinear </a:t>
            </a:r>
          </a:p>
        </p:txBody>
      </p:sp>
    </p:spTree>
    <p:extLst>
      <p:ext uri="{BB962C8B-B14F-4D97-AF65-F5344CB8AC3E}">
        <p14:creationId xmlns:p14="http://schemas.microsoft.com/office/powerpoint/2010/main" val="315023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524" y="-296862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1.3 Scalars and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56692"/>
            <a:ext cx="8229600" cy="586865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b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Scalar quantities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have only magnitude.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</a:t>
            </a:r>
            <a:r>
              <a:rPr lang="en-US" sz="2200" b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quantities</a:t>
            </a: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200" b="1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both magnitude and direction</a:t>
            </a:r>
            <a:endParaRPr lang="en-US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681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96862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Types of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686800" cy="6012668"/>
          </a:xfrm>
        </p:spPr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Free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Vectors</a:t>
            </a:r>
            <a:r>
              <a:rPr lang="en-US" sz="2800" dirty="0"/>
              <a:t>: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	</a:t>
            </a:r>
            <a:r>
              <a:rPr lang="en-US" sz="2000" i="1" dirty="0" smtClean="0">
                <a:solidFill>
                  <a:srgbClr val="FF0000"/>
                </a:solidFill>
              </a:rPr>
              <a:t>(not </a:t>
            </a:r>
            <a:r>
              <a:rPr lang="en-US" sz="2000" i="1" dirty="0">
                <a:solidFill>
                  <a:srgbClr val="FF0000"/>
                </a:solidFill>
              </a:rPr>
              <a:t>confined or associated with a unique </a:t>
            </a:r>
            <a:r>
              <a:rPr lang="en-US" sz="2000" i="1" dirty="0" smtClean="0">
                <a:solidFill>
                  <a:srgbClr val="FF0000"/>
                </a:solidFill>
              </a:rPr>
              <a:t>line</a:t>
            </a:r>
            <a:r>
              <a:rPr lang="en-US" sz="2000" i="1" dirty="0" smtClean="0"/>
              <a:t>)</a:t>
            </a:r>
            <a:endParaRPr lang="en-US" sz="2000" i="1" dirty="0"/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652" y="1763688"/>
            <a:ext cx="4195339" cy="1849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517641" y="3429000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514350" indent="-514350">
              <a:buAutoNum type="arabicParenR" startAt="2"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Sliding Vectors</a:t>
            </a:r>
            <a:r>
              <a:rPr lang="en-US" sz="2400" dirty="0"/>
              <a:t>: </a:t>
            </a:r>
          </a:p>
          <a:p>
            <a:pPr marL="0" indent="0">
              <a:buNone/>
            </a:pPr>
            <a:r>
              <a:rPr lang="en-US" sz="2400" dirty="0"/>
              <a:t>have </a:t>
            </a:r>
            <a:r>
              <a:rPr lang="en-US" sz="2400" dirty="0">
                <a:solidFill>
                  <a:srgbClr val="FF0000"/>
                </a:solidFill>
              </a:rPr>
              <a:t>unique line in space</a:t>
            </a:r>
            <a:endParaRPr lang="en-US" sz="2400" dirty="0"/>
          </a:p>
        </p:txBody>
      </p:sp>
      <p:pic>
        <p:nvPicPr>
          <p:cNvPr id="6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628" y="4460154"/>
            <a:ext cx="5803065" cy="1674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3792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921" y="-296862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Types of Vector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363272" cy="594066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3)	Fixed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Vectors: </a:t>
            </a:r>
            <a:endParaRPr lang="en-US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en-US" dirty="0" smtClean="0">
                <a:solidFill>
                  <a:srgbClr val="FF0000"/>
                </a:solidFill>
              </a:rPr>
              <a:t>unique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well-defined point of </a:t>
            </a:r>
            <a:r>
              <a:rPr lang="en-US" dirty="0" smtClean="0">
                <a:solidFill>
                  <a:srgbClr val="FF0000"/>
                </a:solidFill>
              </a:rPr>
              <a:t>application)</a:t>
            </a:r>
            <a:endParaRPr lang="en-US" dirty="0"/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72" y="1988840"/>
            <a:ext cx="4179888" cy="150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975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Classification of Vector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8760"/>
            <a:ext cx="9252520" cy="558924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6666FF"/>
                </a:solidFill>
              </a:rPr>
              <a:t>Based on coexistence of vector</a:t>
            </a:r>
          </a:p>
          <a:p>
            <a:pPr marL="738188" indent="117475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800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Concurrent vector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 the line of action of the vector meet at one point.</a:t>
            </a:r>
          </a:p>
          <a:p>
            <a:pPr marL="738188" indent="117475">
              <a:buFont typeface="Wingdings" panose="05000000000000000000" pitchFamily="2" charset="2"/>
              <a:buChar char="Ø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8188" indent="117475">
              <a:buFont typeface="Wingdings" panose="05000000000000000000" pitchFamily="2" charset="2"/>
              <a:buChar char="Ø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8188" indent="117475">
              <a:buFont typeface="Wingdings" panose="05000000000000000000" pitchFamily="2" charset="2"/>
              <a:buChar char="Ø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8188" indent="117475">
              <a:buFont typeface="Wingdings" panose="05000000000000000000" pitchFamily="2" charset="2"/>
              <a:buChar char="Ø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8188" indent="0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concurrent                                  non concurrent</a:t>
            </a:r>
          </a:p>
          <a:p>
            <a:pPr marL="738188" indent="0"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8188" indent="117475">
              <a:buFont typeface="Wingdings" panose="05000000000000000000" pitchFamily="2" charset="2"/>
              <a:buChar char="Ø"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588" y="3176972"/>
            <a:ext cx="2944824" cy="190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036" y="2904850"/>
            <a:ext cx="2919338" cy="2178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2079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Vector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0788"/>
            <a:ext cx="9144000" cy="533721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solidFill>
                  <a:srgbClr val="800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Collinear vectors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 all of the line of actions of them are parallel.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                                           non linear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963"/>
              </a:spcAft>
              <a:buClr>
                <a:srgbClr val="0070C0"/>
              </a:buClr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800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Coplanar vectors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lines of action of the vectors lie on the same plane. Any two vectors are coplanar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800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Space vectors:-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3" y="2557463"/>
            <a:ext cx="2608262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763" y="2557463"/>
            <a:ext cx="2862262" cy="144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0" y="5028535"/>
            <a:ext cx="211455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25" y="5438876"/>
            <a:ext cx="200025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01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96862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Representation of Vector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56692"/>
            <a:ext cx="8229600" cy="5904656"/>
          </a:xfr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b="1" dirty="0" smtClean="0">
              <a:solidFill>
                <a:srgbClr val="0070C0"/>
              </a:solidFill>
            </a:endParaRPr>
          </a:p>
          <a:p>
            <a:pPr marL="514350" indent="-514350">
              <a:buAutoNum type="alphaUcPeriod"/>
            </a:pPr>
            <a:endParaRPr lang="en-US" b="1" dirty="0">
              <a:solidFill>
                <a:srgbClr val="0070C0"/>
              </a:solidFill>
            </a:endParaRPr>
          </a:p>
          <a:p>
            <a:pPr marL="514350" indent="-514350">
              <a:buAutoNum type="alphaUcPeriod"/>
            </a:pPr>
            <a:r>
              <a:rPr lang="en-US" b="1" dirty="0" smtClean="0">
                <a:solidFill>
                  <a:srgbClr val="0070C0"/>
                </a:solidFill>
              </a:rPr>
              <a:t>Graphical </a:t>
            </a:r>
            <a:r>
              <a:rPr lang="en-US" b="1" dirty="0">
                <a:solidFill>
                  <a:srgbClr val="0070C0"/>
                </a:solidFill>
              </a:rPr>
              <a:t>representation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267744" y="4761148"/>
            <a:ext cx="1116124" cy="972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383868" y="4329100"/>
            <a:ext cx="756084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80" y="5733256"/>
            <a:ext cx="576064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3167844" y="5193196"/>
            <a:ext cx="1368152" cy="8280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 of the line segment </a:t>
            </a:r>
          </a:p>
        </p:txBody>
      </p:sp>
      <p:cxnSp>
        <p:nvCxnSpPr>
          <p:cNvPr id="10" name="Elbow Connector 9"/>
          <p:cNvCxnSpPr>
            <a:endCxn id="8" idx="1"/>
          </p:cNvCxnSpPr>
          <p:nvPr/>
        </p:nvCxnSpPr>
        <p:spPr>
          <a:xfrm>
            <a:off x="2771800" y="5373216"/>
            <a:ext cx="396044" cy="2340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598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Representation of Vector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90465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B. Algebraic (Arithmetic) representation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represented </a:t>
            </a:r>
            <a:r>
              <a:rPr lang="en-US" dirty="0">
                <a:solidFill>
                  <a:srgbClr val="FF0000"/>
                </a:solidFill>
              </a:rPr>
              <a:t>by the components</a:t>
            </a:r>
            <a:r>
              <a:rPr lang="en-US" dirty="0"/>
              <a:t> of the </a:t>
            </a:r>
            <a:r>
              <a:rPr lang="en-US" dirty="0" smtClean="0"/>
              <a:t>vector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511660" y="3781662"/>
            <a:ext cx="0" cy="144016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7200" y="5221822"/>
            <a:ext cx="1054460" cy="83547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511660" y="5221822"/>
            <a:ext cx="212423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1511660" y="4617132"/>
            <a:ext cx="1260140" cy="6046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511660" y="5221822"/>
            <a:ext cx="1260140" cy="439426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771800" y="4617132"/>
            <a:ext cx="0" cy="1044116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>
            <a:off x="1007604" y="5661248"/>
            <a:ext cx="1764196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2761456" y="5221822"/>
            <a:ext cx="658416" cy="439427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540099" y="2768559"/>
                <a:ext cx="3671133" cy="267297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n-US" sz="3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𝐴𝑐𝑜𝑠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sz="3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𝐴𝑐𝑜𝑠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sz="3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𝐴𝑐𝑜𝑠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099" y="2768559"/>
                <a:ext cx="3671133" cy="267297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1367644" y="3479238"/>
            <a:ext cx="288032" cy="23779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07903" y="5059804"/>
            <a:ext cx="360040" cy="32403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8483" y="6057292"/>
            <a:ext cx="298376" cy="2520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1817697" y="4617132"/>
                <a:ext cx="306032" cy="3023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697" y="4617132"/>
                <a:ext cx="306032" cy="302346"/>
              </a:xfrm>
              <a:prstGeom prst="rect">
                <a:avLst/>
              </a:prstGeom>
              <a:blipFill rotWithShape="0">
                <a:blip r:embed="rId3"/>
                <a:stretch>
                  <a:fillRect l="-9804" t="-43137" r="-17647"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2844372" y="4757458"/>
                <a:ext cx="306032" cy="3023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372" y="4757458"/>
                <a:ext cx="306032" cy="302346"/>
              </a:xfrm>
              <a:prstGeom prst="rect">
                <a:avLst/>
              </a:prstGeom>
              <a:blipFill rotWithShape="0">
                <a:blip r:embed="rId4"/>
                <a:stretch>
                  <a:fillRect l="-17647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3024084" y="5481226"/>
                <a:ext cx="306032" cy="3023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084" y="5481226"/>
                <a:ext cx="306032" cy="302346"/>
              </a:xfrm>
              <a:prstGeom prst="rect">
                <a:avLst/>
              </a:prstGeom>
              <a:blipFill rotWithShape="0">
                <a:blip r:embed="rId5"/>
                <a:stretch>
                  <a:fillRect l="-19608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1511665" y="5783572"/>
                <a:ext cx="306032" cy="3023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665" y="5783572"/>
                <a:ext cx="306032" cy="302346"/>
              </a:xfrm>
              <a:prstGeom prst="rect">
                <a:avLst/>
              </a:prstGeom>
              <a:blipFill rotWithShape="0">
                <a:blip r:embed="rId6"/>
                <a:stretch>
                  <a:fillRect l="-19608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0238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70086"/>
          </a:xfrm>
        </p:spPr>
        <p:txBody>
          <a:bodyPr/>
          <a:lstStyle/>
          <a:p>
            <a:pPr algn="l"/>
            <a:r>
              <a:rPr lang="en-US" dirty="0"/>
              <a:t>Properties of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70086"/>
            <a:ext cx="8229600" cy="5963270"/>
          </a:xfr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Equality of vectors</a:t>
            </a:r>
            <a:r>
              <a:rPr lang="en-US" dirty="0">
                <a:solidFill>
                  <a:srgbClr val="0070C0"/>
                </a:solidFill>
              </a:rPr>
              <a:t>: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sz="2200" i="1" dirty="0" smtClean="0"/>
              <a:t>have </a:t>
            </a:r>
            <a:r>
              <a:rPr lang="en-US" sz="2200" i="1" dirty="0"/>
              <a:t>the </a:t>
            </a:r>
            <a:r>
              <a:rPr lang="en-US" sz="2200" i="1" dirty="0">
                <a:solidFill>
                  <a:srgbClr val="FF0000"/>
                </a:solidFill>
              </a:rPr>
              <a:t>same magnitude </a:t>
            </a:r>
            <a:r>
              <a:rPr lang="en-US" sz="2200" i="1" dirty="0"/>
              <a:t>and </a:t>
            </a:r>
            <a:r>
              <a:rPr lang="en-US" sz="2200" i="1" dirty="0" smtClean="0">
                <a:solidFill>
                  <a:srgbClr val="FF0000"/>
                </a:solidFill>
              </a:rPr>
              <a:t>direction</a:t>
            </a:r>
            <a:endParaRPr lang="en-US" sz="2200" i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b="1" dirty="0" smtClean="0">
              <a:solidFill>
                <a:srgbClr val="0070C0"/>
              </a:solidFill>
            </a:endParaRPr>
          </a:p>
          <a:p>
            <a:r>
              <a:rPr lang="en-US" b="1" dirty="0" smtClean="0">
                <a:solidFill>
                  <a:srgbClr val="0070C0"/>
                </a:solidFill>
              </a:rPr>
              <a:t>The </a:t>
            </a:r>
            <a:r>
              <a:rPr lang="en-US" b="1" dirty="0">
                <a:solidFill>
                  <a:srgbClr val="0070C0"/>
                </a:solidFill>
              </a:rPr>
              <a:t>Negative of a vector</a:t>
            </a:r>
            <a:r>
              <a:rPr lang="en-US" dirty="0">
                <a:solidFill>
                  <a:srgbClr val="0070C0"/>
                </a:solidFill>
              </a:rPr>
              <a:t>: </a:t>
            </a:r>
            <a:endParaRPr lang="en-US" dirty="0" smtClean="0">
              <a:solidFill>
                <a:srgbClr val="0070C0"/>
              </a:solidFill>
            </a:endParaRPr>
          </a:p>
          <a:p>
            <a:r>
              <a:rPr lang="en-US" sz="2000" i="1" dirty="0" smtClean="0">
                <a:solidFill>
                  <a:srgbClr val="FF0000"/>
                </a:solidFill>
              </a:rPr>
              <a:t>equal </a:t>
            </a:r>
            <a:r>
              <a:rPr lang="en-US" sz="2000" i="1" dirty="0">
                <a:solidFill>
                  <a:srgbClr val="FF0000"/>
                </a:solidFill>
              </a:rPr>
              <a:t>magnitude </a:t>
            </a:r>
            <a:r>
              <a:rPr lang="en-US" sz="2000" i="1" dirty="0" smtClean="0"/>
              <a:t>but </a:t>
            </a:r>
            <a:r>
              <a:rPr lang="en-US" sz="2000" i="1" dirty="0">
                <a:solidFill>
                  <a:srgbClr val="FF0000"/>
                </a:solidFill>
              </a:rPr>
              <a:t>opposite in direction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907704" y="2420888"/>
            <a:ext cx="864096" cy="7200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3720257" y="2420888"/>
            <a:ext cx="864096" cy="7200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5532810" y="2420888"/>
            <a:ext cx="864096" cy="72008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411760" y="2780928"/>
            <a:ext cx="402221" cy="360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2304" y="2780928"/>
            <a:ext cx="402221" cy="360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4685" y="2780928"/>
            <a:ext cx="402221" cy="360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2411760" y="5373216"/>
            <a:ext cx="864096" cy="7200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369579" y="5373216"/>
            <a:ext cx="402221" cy="360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4252131" y="5373216"/>
            <a:ext cx="864096" cy="720080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031940" y="5373216"/>
            <a:ext cx="554955" cy="360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-A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844088" y="2366882"/>
                <a:ext cx="1980596" cy="4140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4088" y="2366882"/>
                <a:ext cx="1980596" cy="414046"/>
              </a:xfrm>
              <a:prstGeom prst="rect">
                <a:avLst/>
              </a:prstGeom>
              <a:blipFill rotWithShape="0">
                <a:blip r:embed="rId2"/>
                <a:stretch>
                  <a:fillRect t="-18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776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70086"/>
          </a:xfrm>
        </p:spPr>
        <p:txBody>
          <a:bodyPr/>
          <a:lstStyle/>
          <a:p>
            <a:pPr algn="l"/>
            <a:r>
              <a:rPr lang="en-US" dirty="0"/>
              <a:t>Properties of Vector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70086"/>
                <a:ext cx="8229600" cy="6071282"/>
              </a:xfrm>
            </p:spPr>
            <p:txBody>
              <a:bodyPr/>
              <a:lstStyle/>
              <a:p>
                <a:r>
                  <a:rPr lang="en-US" b="1" dirty="0">
                    <a:solidFill>
                      <a:srgbClr val="0E06B6"/>
                    </a:solidFill>
                  </a:rPr>
                  <a:t>Null</a:t>
                </a:r>
                <a:r>
                  <a:rPr lang="en-US" b="1" dirty="0">
                    <a:solidFill>
                      <a:srgbClr val="0070C0"/>
                    </a:solidFill>
                  </a:rPr>
                  <a:t> vector</a:t>
                </a:r>
                <a:r>
                  <a:rPr lang="en-US" dirty="0" smtClean="0">
                    <a:solidFill>
                      <a:srgbClr val="0070C0"/>
                    </a:solidFill>
                  </a:rPr>
                  <a:t>:</a:t>
                </a:r>
                <a:endParaRPr lang="en-US" dirty="0"/>
              </a:p>
              <a:p>
                <a:r>
                  <a:rPr lang="en-US" b="1" dirty="0">
                    <a:solidFill>
                      <a:srgbClr val="0070C0"/>
                    </a:solidFill>
                  </a:rPr>
                  <a:t>Unit </a:t>
                </a:r>
                <a:r>
                  <a:rPr lang="en-US" b="1" dirty="0" smtClean="0">
                    <a:solidFill>
                      <a:srgbClr val="0070C0"/>
                    </a:solidFill>
                  </a:rPr>
                  <a:t>vector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70086"/>
                <a:ext cx="8229600" cy="6071282"/>
              </a:xfrm>
              <a:blipFill rotWithShape="0">
                <a:blip r:embed="rId2"/>
                <a:stretch>
                  <a:fillRect l="-1704" t="-1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881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669" y="260648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1.4 Operation With Vectors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5661248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Vector Addition or Composition 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rgbClr val="00B050"/>
                </a:solidFill>
              </a:rPr>
              <a:t>A</a:t>
            </a:r>
            <a:r>
              <a:rPr lang="en-US" sz="2800" dirty="0">
                <a:solidFill>
                  <a:srgbClr val="00B050"/>
                </a:solidFill>
              </a:rPr>
              <a:t>. Graphical Method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B050"/>
                </a:solidFill>
              </a:rPr>
              <a:t>B. Analytical Method</a:t>
            </a:r>
          </a:p>
          <a:p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682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1.4 Operation With Vectors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905" y="1232756"/>
            <a:ext cx="8229600" cy="5292588"/>
          </a:xfrm>
        </p:spPr>
        <p:txBody>
          <a:bodyPr/>
          <a:lstStyle/>
          <a:p>
            <a:pPr marL="0" indent="0">
              <a:buNone/>
            </a:pPr>
            <a:endParaRPr lang="en-US" b="1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00B050"/>
                </a:solidFill>
              </a:rPr>
              <a:t>A</a:t>
            </a:r>
            <a:r>
              <a:rPr lang="en-US" b="1" dirty="0">
                <a:solidFill>
                  <a:srgbClr val="00B050"/>
                </a:solidFill>
              </a:rPr>
              <a:t>. Graphical Method</a:t>
            </a:r>
          </a:p>
          <a:p>
            <a:pPr marL="571500" indent="-571500">
              <a:buAutoNum type="romanUcPeriod"/>
            </a:pPr>
            <a:r>
              <a:rPr lang="en-US" sz="2800" b="1" dirty="0">
                <a:solidFill>
                  <a:srgbClr val="00B050"/>
                </a:solidFill>
              </a:rPr>
              <a:t>The parallelogram law </a:t>
            </a:r>
            <a:endParaRPr lang="en-US" sz="2800" b="1" dirty="0" smtClean="0">
              <a:solidFill>
                <a:srgbClr val="00B050"/>
              </a:solidFill>
            </a:endParaRPr>
          </a:p>
          <a:p>
            <a:endParaRPr lang="en-US" sz="28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800" dirty="0" smtClean="0">
                <a:solidFill>
                  <a:srgbClr val="00B050"/>
                </a:solidFill>
              </a:rPr>
              <a:t> </a:t>
            </a:r>
            <a:endParaRPr lang="en-US" sz="2800" dirty="0">
              <a:solidFill>
                <a:srgbClr val="00B050"/>
              </a:solidFill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1187624" y="4689140"/>
            <a:ext cx="792088" cy="82809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1289816" y="5507121"/>
            <a:ext cx="1379791" cy="25202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1007604" y="4689140"/>
                <a:ext cx="396044" cy="4140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604" y="4689140"/>
                <a:ext cx="396044" cy="414046"/>
              </a:xfrm>
              <a:prstGeom prst="rect">
                <a:avLst/>
              </a:prstGeom>
              <a:blipFill rotWithShape="0">
                <a:blip r:embed="rId2"/>
                <a:stretch>
                  <a:fillRect t="-18841" r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1781690" y="5759149"/>
                <a:ext cx="396044" cy="4140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690" y="5759149"/>
                <a:ext cx="396044" cy="41404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>
          <a:xfrm flipV="1">
            <a:off x="4360500" y="4689140"/>
            <a:ext cx="792088" cy="82809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4360500" y="5265204"/>
            <a:ext cx="1379791" cy="25202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5730914" y="4451112"/>
            <a:ext cx="792088" cy="828092"/>
          </a:xfrm>
          <a:prstGeom prst="straightConnector1">
            <a:avLst/>
          </a:prstGeom>
          <a:ln w="38100">
            <a:prstDash val="dash"/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5143211" y="4479910"/>
            <a:ext cx="1379791" cy="252028"/>
          </a:xfrm>
          <a:prstGeom prst="straightConnector1">
            <a:avLst/>
          </a:prstGeom>
          <a:ln w="38100">
            <a:prstDash val="dash"/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4360500" y="4479910"/>
            <a:ext cx="2162502" cy="10272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4299483" y="4731938"/>
                <a:ext cx="396044" cy="4140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483" y="4731938"/>
                <a:ext cx="396044" cy="414046"/>
              </a:xfrm>
              <a:prstGeom prst="rect">
                <a:avLst/>
              </a:prstGeom>
              <a:blipFill rotWithShape="0">
                <a:blip r:embed="rId4"/>
                <a:stretch>
                  <a:fillRect t="-18841" r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4995695" y="5451382"/>
                <a:ext cx="396044" cy="4140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695" y="5451382"/>
                <a:ext cx="396044" cy="41404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6523002" y="4065864"/>
                <a:ext cx="396044" cy="4140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3002" y="4065864"/>
                <a:ext cx="396044" cy="41404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6577656" y="5090869"/>
                <a:ext cx="1980596" cy="4140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656" y="5090869"/>
                <a:ext cx="1980596" cy="414046"/>
              </a:xfrm>
              <a:prstGeom prst="rect">
                <a:avLst/>
              </a:prstGeom>
              <a:blipFill rotWithShape="0">
                <a:blip r:embed="rId7"/>
                <a:stretch>
                  <a:fillRect t="-18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884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1.4 Operation With Vectors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30552"/>
          </a:xfrm>
        </p:spPr>
        <p:txBody>
          <a:bodyPr/>
          <a:lstStyle/>
          <a:p>
            <a:pPr marL="0" indent="0">
              <a:buNone/>
            </a:pPr>
            <a:endParaRPr lang="en-US" b="1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b="1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00B050"/>
                </a:solidFill>
              </a:rPr>
              <a:t>II</a:t>
            </a:r>
            <a:r>
              <a:rPr lang="en-US" b="1" dirty="0">
                <a:solidFill>
                  <a:srgbClr val="00B050"/>
                </a:solidFill>
              </a:rPr>
              <a:t>. The Triangle rule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1187624" y="4689140"/>
            <a:ext cx="792088" cy="82809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007604" y="4689140"/>
                <a:ext cx="396044" cy="4140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604" y="4689140"/>
                <a:ext cx="396044" cy="414046"/>
              </a:xfrm>
              <a:prstGeom prst="rect">
                <a:avLst/>
              </a:prstGeom>
              <a:blipFill rotWithShape="0">
                <a:blip r:embed="rId2"/>
                <a:stretch>
                  <a:fillRect t="-18841" r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781690" y="5759149"/>
                <a:ext cx="396044" cy="4140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690" y="5759149"/>
                <a:ext cx="396044" cy="41404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 flipV="1">
            <a:off x="5730914" y="4469800"/>
            <a:ext cx="792088" cy="82809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4360500" y="5265204"/>
            <a:ext cx="1379791" cy="25202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360500" y="4479910"/>
            <a:ext cx="2162502" cy="10272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299483" y="4731938"/>
                <a:ext cx="396044" cy="4140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483" y="4731938"/>
                <a:ext cx="396044" cy="414046"/>
              </a:xfrm>
              <a:prstGeom prst="rect">
                <a:avLst/>
              </a:prstGeom>
              <a:blipFill rotWithShape="0">
                <a:blip r:embed="rId4"/>
                <a:stretch>
                  <a:fillRect t="-18841" r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995695" y="5451382"/>
                <a:ext cx="396044" cy="4140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695" y="5451382"/>
                <a:ext cx="396044" cy="41404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6523002" y="4065864"/>
                <a:ext cx="396044" cy="4140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3002" y="4065864"/>
                <a:ext cx="396044" cy="41404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V="1">
            <a:off x="1289816" y="5507121"/>
            <a:ext cx="1379791" cy="25202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577656" y="5090869"/>
                <a:ext cx="1980596" cy="4140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656" y="5090869"/>
                <a:ext cx="1980596" cy="414046"/>
              </a:xfrm>
              <a:prstGeom prst="rect">
                <a:avLst/>
              </a:prstGeom>
              <a:blipFill rotWithShape="0">
                <a:blip r:embed="rId7"/>
                <a:stretch>
                  <a:fillRect t="-18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7741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259" y="43314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1.4 Operation With Vectors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259" y="1160748"/>
            <a:ext cx="8229600" cy="522058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B. Analytic method</a:t>
            </a:r>
            <a:endParaRPr lang="en-US" dirty="0"/>
          </a:p>
          <a:p>
            <a:pPr marL="571500" indent="-571500">
              <a:buAutoNum type="romanUcPeriod"/>
            </a:pPr>
            <a:r>
              <a:rPr lang="en-US" i="1" dirty="0" smtClean="0">
                <a:solidFill>
                  <a:srgbClr val="00B050"/>
                </a:solidFill>
              </a:rPr>
              <a:t>Trigonometric </a:t>
            </a:r>
            <a:r>
              <a:rPr lang="en-US" i="1" dirty="0">
                <a:solidFill>
                  <a:srgbClr val="00B050"/>
                </a:solidFill>
              </a:rPr>
              <a:t>rules</a:t>
            </a:r>
          </a:p>
          <a:p>
            <a:pPr marL="0" indent="0">
              <a:buNone/>
            </a:pPr>
            <a:r>
              <a:rPr lang="en-US" dirty="0" smtClean="0"/>
              <a:t>applying </a:t>
            </a:r>
            <a:r>
              <a:rPr lang="en-US" dirty="0"/>
              <a:t>the cosine and the sine rules.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79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9393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1.4 Operation With Vectors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5010" y="524612"/>
                <a:ext cx="8229600" cy="6108744"/>
              </a:xfrm>
            </p:spPr>
            <p:txBody>
              <a:bodyPr/>
              <a:lstStyle/>
              <a:p>
                <a:pPr marL="571500" indent="-571500">
                  <a:buAutoNum type="romanUcPeriod"/>
                </a:pPr>
                <a:r>
                  <a:rPr lang="en-US" i="1" dirty="0">
                    <a:solidFill>
                      <a:srgbClr val="00B050"/>
                    </a:solidFill>
                  </a:rPr>
                  <a:t>Trigonometric rules</a:t>
                </a:r>
              </a:p>
              <a:p>
                <a:pPr marL="571500" indent="-571500">
                  <a:buAutoNum type="romanUcPeriod"/>
                </a:pPr>
                <a:endParaRPr lang="en-US" i="1" dirty="0">
                  <a:solidFill>
                    <a:srgbClr val="00B050"/>
                  </a:solidFill>
                </a:endParaRPr>
              </a:p>
              <a:p>
                <a:pPr marL="571500" indent="-571500">
                  <a:buAutoNum type="romanUcPeriod"/>
                </a:pPr>
                <a:endParaRPr lang="en-US" i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i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i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sz="2800" i="1" dirty="0">
                    <a:solidFill>
                      <a:srgbClr val="00B0F0"/>
                    </a:solidFill>
                  </a:rPr>
                  <a:t>From Cosine law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rgbClr val="800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400" i="1" smtClean="0">
                                  <a:solidFill>
                                    <a:srgbClr val="800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smtClean="0">
                                      <a:solidFill>
                                        <a:srgbClr val="8000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800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rgbClr val="80004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800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800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400" i="1">
                                  <a:solidFill>
                                    <a:srgbClr val="800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>
                                      <a:solidFill>
                                        <a:srgbClr val="8000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800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rgbClr val="80004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80004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800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400" i="1">
                                  <a:solidFill>
                                    <a:srgbClr val="800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>
                                      <a:solidFill>
                                        <a:srgbClr val="8000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800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rgbClr val="80004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80004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2400" b="0" i="1" smtClean="0">
                              <a:solidFill>
                                <a:srgbClr val="800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2400" b="0" i="1" smtClean="0">
                                  <a:solidFill>
                                    <a:srgbClr val="800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rgbClr val="80004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sz="2400" b="0" i="1" smtClean="0">
                              <a:solidFill>
                                <a:srgbClr val="800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2400" b="0" i="1" smtClean="0">
                                  <a:solidFill>
                                    <a:srgbClr val="800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rgbClr val="80004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800040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2400" b="0" i="1" smtClean="0">
                          <a:solidFill>
                            <a:srgbClr val="80004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400" b="0" i="1" smtClean="0">
                          <a:solidFill>
                            <a:srgbClr val="80004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solidFill>
                            <a:srgbClr val="80004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solidFill>
                    <a:srgbClr val="80004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400" i="1" smtClean="0">
                            <a:solidFill>
                              <a:srgbClr val="800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400" i="1" smtClean="0">
                                <a:solidFill>
                                  <a:srgbClr val="800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solidFill>
                                  <a:srgbClr val="80004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</m:d>
                    <m:r>
                      <a:rPr lang="en-US" sz="2400" i="1">
                        <a:solidFill>
                          <a:srgbClr val="80004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 smtClean="0">
                            <a:solidFill>
                              <a:srgbClr val="80004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800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2400" i="1">
                                    <a:solidFill>
                                      <a:srgbClr val="80004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2400" i="1">
                                        <a:solidFill>
                                          <a:srgbClr val="800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solidFill>
                                          <a:srgbClr val="800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2400" i="1">
                                <a:solidFill>
                                  <a:srgbClr val="80004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rgbClr val="80004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800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2400" i="1">
                                    <a:solidFill>
                                      <a:srgbClr val="80004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2400" i="1">
                                        <a:solidFill>
                                          <a:srgbClr val="80004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solidFill>
                                          <a:srgbClr val="80004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2400" i="1">
                                <a:solidFill>
                                  <a:srgbClr val="80004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rgbClr val="80004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sz="2400" i="1">
                                <a:solidFill>
                                  <a:srgbClr val="800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2400" i="1">
                                    <a:solidFill>
                                      <a:srgbClr val="80004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80004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</m:d>
                        <m:d>
                          <m:dPr>
                            <m:begChr m:val="‖"/>
                            <m:endChr m:val="‖"/>
                            <m:ctrlPr>
                              <a:rPr lang="en-US" sz="2400" i="1">
                                <a:solidFill>
                                  <a:srgbClr val="800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2400" i="1">
                                    <a:solidFill>
                                      <a:srgbClr val="80004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80004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</m:d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80004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sz="2400" i="1">
                            <a:solidFill>
                              <a:srgbClr val="800040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i="1">
                            <a:solidFill>
                              <a:srgbClr val="80004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i="1">
                            <a:solidFill>
                              <a:srgbClr val="80004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sz="2400" i="1" dirty="0">
                            <a:solidFill>
                              <a:srgbClr val="800040"/>
                            </a:solidFill>
                          </a:rPr>
                          <m:t> </m:t>
                        </m:r>
                      </m:e>
                    </m:rad>
                  </m:oMath>
                </a14:m>
                <a:r>
                  <a:rPr lang="en-US" sz="2400" i="1" dirty="0">
                    <a:solidFill>
                      <a:srgbClr val="00B050"/>
                    </a:solidFill>
                  </a:rPr>
                  <a:t>  ….. magnitude</a:t>
                </a:r>
              </a:p>
              <a:p>
                <a:pPr marL="0" indent="0">
                  <a:buNone/>
                </a:pPr>
                <a:r>
                  <a:rPr lang="en-US" sz="2800" i="1" dirty="0">
                    <a:solidFill>
                      <a:srgbClr val="00B0F0"/>
                    </a:solidFill>
                  </a:rPr>
                  <a:t>From Sine law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rgbClr val="80004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800" b="0" i="1" smtClean="0">
                                <a:solidFill>
                                  <a:srgbClr val="800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800040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800" b="0" i="1" smtClean="0">
                                <a:solidFill>
                                  <a:srgbClr val="80004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func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sz="2800" i="1" smtClean="0">
                                <a:solidFill>
                                  <a:srgbClr val="800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2800" i="1" smtClean="0">
                                    <a:solidFill>
                                      <a:srgbClr val="80004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solidFill>
                                      <a:srgbClr val="80004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</m:d>
                      </m:den>
                    </m:f>
                    <m:r>
                      <a:rPr lang="en-US" sz="2800" b="0" i="1" smtClean="0">
                        <a:solidFill>
                          <a:srgbClr val="80004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solidFill>
                              <a:srgbClr val="80004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800" i="1">
                                <a:solidFill>
                                  <a:srgbClr val="800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800040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800" i="1" smtClean="0">
                                <a:solidFill>
                                  <a:srgbClr val="80004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sz="2800" i="1">
                                <a:solidFill>
                                  <a:srgbClr val="800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2800" i="1">
                                    <a:solidFill>
                                      <a:srgbClr val="80004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solidFill>
                                      <a:srgbClr val="80004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r>
                  <a:rPr lang="en-US" sz="2800" i="1" dirty="0">
                    <a:solidFill>
                      <a:srgbClr val="00B0F0"/>
                    </a:solidFill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80004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400" b="0" i="1" dirty="0" smtClean="0">
                        <a:solidFill>
                          <a:srgbClr val="80004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rgbClr val="80004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rgbClr val="80004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𝑠𝑖𝑛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rgbClr val="80004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400" b="0" i="1" dirty="0" smtClean="0">
                            <a:solidFill>
                              <a:srgbClr val="80004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dirty="0" smtClean="0">
                                <a:solidFill>
                                  <a:srgbClr val="80004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dirty="0" smtClean="0">
                                <a:solidFill>
                                  <a:srgbClr val="80004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b="0" i="1" dirty="0" smtClean="0">
                                <a:solidFill>
                                  <a:srgbClr val="80004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400" b="0" i="1" dirty="0" smtClean="0">
                                <a:solidFill>
                                  <a:srgbClr val="80004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ctrlPr>
                                  <a:rPr lang="en-US" sz="2400" b="0" i="1" dirty="0" smtClean="0">
                                    <a:solidFill>
                                      <a:srgbClr val="80004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sz="2400" b="0" i="1" dirty="0" smtClean="0">
                                        <a:solidFill>
                                          <a:srgbClr val="800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sz="2400" b="0" i="1" dirty="0" smtClean="0">
                                            <a:solidFill>
                                              <a:srgbClr val="80004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0" i="1" dirty="0" smtClean="0">
                                            <a:solidFill>
                                              <a:srgbClr val="80004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e>
                                </m:d>
                              </m:num>
                              <m:den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sz="2400" b="0" i="1" dirty="0" smtClean="0">
                                        <a:solidFill>
                                          <a:srgbClr val="80004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sz="2400" b="0" i="1" dirty="0" smtClean="0">
                                            <a:solidFill>
                                              <a:srgbClr val="80004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0" i="1" dirty="0" smtClean="0">
                                            <a:solidFill>
                                              <a:srgbClr val="80004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</m:acc>
                                  </m:e>
                                </m:d>
                              </m:den>
                            </m:f>
                          </m:e>
                        </m:func>
                      </m:e>
                    </m:d>
                  </m:oMath>
                </a14:m>
                <a:r>
                  <a:rPr lang="en-US" sz="2800" i="1" dirty="0">
                    <a:solidFill>
                      <a:srgbClr val="00B0F0"/>
                    </a:solidFill>
                  </a:rPr>
                  <a:t>…</a:t>
                </a:r>
                <a:r>
                  <a:rPr lang="en-US" sz="2800" i="1" dirty="0">
                    <a:solidFill>
                      <a:srgbClr val="00B050"/>
                    </a:solidFill>
                  </a:rPr>
                  <a:t>direction</a:t>
                </a:r>
              </a:p>
              <a:p>
                <a:pPr marL="0" indent="0">
                  <a:buNone/>
                </a:pPr>
                <a:endParaRPr lang="en-US" i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i="1" dirty="0">
                  <a:solidFill>
                    <a:srgbClr val="00B05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010" y="524612"/>
                <a:ext cx="8229600" cy="6108744"/>
              </a:xfrm>
              <a:blipFill rotWithShape="0">
                <a:blip r:embed="rId2"/>
                <a:stretch>
                  <a:fillRect l="-1704" t="-1297" r="-889" b="-1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 flipV="1">
            <a:off x="2448974" y="1490299"/>
            <a:ext cx="1303865" cy="166656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2448974" y="2519187"/>
            <a:ext cx="3504186" cy="63767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5908691" y="1034350"/>
            <a:ext cx="1183589" cy="1525606"/>
          </a:xfrm>
          <a:prstGeom prst="straightConnector1">
            <a:avLst/>
          </a:prstGeom>
          <a:ln w="38100">
            <a:prstDash val="dash"/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3752839" y="999683"/>
            <a:ext cx="3357117" cy="512105"/>
          </a:xfrm>
          <a:prstGeom prst="straightConnector1">
            <a:avLst/>
          </a:prstGeom>
          <a:ln w="38100">
            <a:prstDash val="dash"/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509810" y="1937003"/>
                <a:ext cx="396044" cy="4140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810" y="1937003"/>
                <a:ext cx="396044" cy="414046"/>
              </a:xfrm>
              <a:prstGeom prst="rect">
                <a:avLst/>
              </a:prstGeom>
              <a:blipFill rotWithShape="0">
                <a:blip r:embed="rId3"/>
                <a:stretch>
                  <a:fillRect t="-18841" r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287324" y="2887276"/>
                <a:ext cx="396044" cy="4140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324" y="2887276"/>
                <a:ext cx="396044" cy="4140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163766" y="1689150"/>
                <a:ext cx="396044" cy="4140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766" y="1689150"/>
                <a:ext cx="396044" cy="41404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flipV="1">
            <a:off x="2488175" y="1019405"/>
            <a:ext cx="4631141" cy="20810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6715662" y="1593897"/>
                <a:ext cx="396044" cy="4140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662" y="1593897"/>
                <a:ext cx="396044" cy="414046"/>
              </a:xfrm>
              <a:prstGeom prst="rect">
                <a:avLst/>
              </a:prstGeom>
              <a:blipFill rotWithShape="0">
                <a:blip r:embed="rId6"/>
                <a:stretch>
                  <a:fillRect t="-17391" r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c 12"/>
          <p:cNvSpPr/>
          <p:nvPr/>
        </p:nvSpPr>
        <p:spPr>
          <a:xfrm rot="16797050">
            <a:off x="5719134" y="2274043"/>
            <a:ext cx="468052" cy="533266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5035346" y="764704"/>
                <a:ext cx="396044" cy="4140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346" y="764704"/>
                <a:ext cx="396044" cy="41404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5360734" y="1922220"/>
                <a:ext cx="396044" cy="4140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734" y="1922220"/>
                <a:ext cx="396044" cy="41404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>
          <a:xfrm flipV="1">
            <a:off x="6088162" y="2336266"/>
            <a:ext cx="1052789" cy="180297"/>
          </a:xfrm>
          <a:prstGeom prst="straightConnector1">
            <a:avLst/>
          </a:prstGeom>
          <a:ln w="38100">
            <a:prstDash val="dash"/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Arc 23"/>
          <p:cNvSpPr/>
          <p:nvPr/>
        </p:nvSpPr>
        <p:spPr>
          <a:xfrm rot="316215">
            <a:off x="5846024" y="2346286"/>
            <a:ext cx="517335" cy="498549"/>
          </a:xfrm>
          <a:prstGeom prst="arc">
            <a:avLst>
              <a:gd name="adj1" fmla="val 16200000"/>
              <a:gd name="adj2" fmla="val 18953648"/>
            </a:avLst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6345099" y="1994524"/>
                <a:ext cx="262415" cy="4140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099" y="1994524"/>
                <a:ext cx="262415" cy="414046"/>
              </a:xfrm>
              <a:prstGeom prst="rect">
                <a:avLst/>
              </a:prstGeom>
              <a:blipFill rotWithShape="0">
                <a:blip r:embed="rId9"/>
                <a:stretch>
                  <a:fillRect l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c 25"/>
          <p:cNvSpPr/>
          <p:nvPr/>
        </p:nvSpPr>
        <p:spPr>
          <a:xfrm rot="316215">
            <a:off x="2865612" y="2876183"/>
            <a:ext cx="517335" cy="498549"/>
          </a:xfrm>
          <a:prstGeom prst="arc">
            <a:avLst>
              <a:gd name="adj1" fmla="val 16200000"/>
              <a:gd name="adj2" fmla="val 18953648"/>
            </a:avLst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3415683" y="2540841"/>
                <a:ext cx="262415" cy="4140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683" y="2540841"/>
                <a:ext cx="262415" cy="414046"/>
              </a:xfrm>
              <a:prstGeom prst="rect">
                <a:avLst/>
              </a:prstGeom>
              <a:blipFill rotWithShape="0">
                <a:blip r:embed="rId10"/>
                <a:stretch>
                  <a:fillRect l="-29545" r="-4545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Notched Right Arrow 30"/>
          <p:cNvSpPr/>
          <p:nvPr/>
        </p:nvSpPr>
        <p:spPr>
          <a:xfrm>
            <a:off x="2448465" y="6129300"/>
            <a:ext cx="1291074" cy="504056"/>
          </a:xfrm>
          <a:prstGeom prst="notchedRightArrow">
            <a:avLst>
              <a:gd name="adj1" fmla="val 50000"/>
              <a:gd name="adj2" fmla="val 114982"/>
            </a:avLst>
          </a:prstGeom>
          <a:solidFill>
            <a:srgbClr val="F2FDF7"/>
          </a:solidFill>
          <a:ln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49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18872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1.4 Operation With Vectors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652628"/>
          </a:xfrm>
        </p:spPr>
        <p:txBody>
          <a:bodyPr/>
          <a:lstStyle/>
          <a:p>
            <a:pPr marL="0" indent="0">
              <a:buNone/>
            </a:pPr>
            <a:r>
              <a:rPr lang="en-US" i="1" dirty="0">
                <a:solidFill>
                  <a:srgbClr val="00B050"/>
                </a:solidFill>
              </a:rPr>
              <a:t>II. Component Method of Vector Addition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629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18872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1.4 Operation With Vectors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08720"/>
                <a:ext cx="8471284" cy="5652628"/>
              </a:xfrm>
            </p:spPr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FF0000"/>
                    </a:solidFill>
                  </a:rPr>
                  <a:t>Example</a:t>
                </a:r>
              </a:p>
              <a:p>
                <a:pPr marL="0" indent="0">
                  <a:buNone/>
                </a:pPr>
                <a:r>
                  <a:rPr lang="en-US" sz="2800" dirty="0"/>
                  <a:t>For vector </a:t>
                </a:r>
                <a:r>
                  <a:rPr lang="en-US" sz="2800" dirty="0">
                    <a:solidFill>
                      <a:schemeClr val="tx2"/>
                    </a:solidFill>
                  </a:rPr>
                  <a:t>V1</a:t>
                </a:r>
                <a:r>
                  <a:rPr lang="en-US" sz="2800" dirty="0"/>
                  <a:t> and </a:t>
                </a:r>
                <a:r>
                  <a:rPr lang="en-US" sz="2800" dirty="0">
                    <a:solidFill>
                      <a:schemeClr val="tx2"/>
                    </a:solidFill>
                  </a:rPr>
                  <a:t>V2</a:t>
                </a:r>
                <a:r>
                  <a:rPr lang="en-US" sz="2800" dirty="0"/>
                  <a:t> shown on the next slide 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/>
                  <a:t>Determine the magnitude </a:t>
                </a:r>
                <a:r>
                  <a:rPr lang="en-US" sz="2800" dirty="0">
                    <a:solidFill>
                      <a:schemeClr val="tx2"/>
                    </a:solidFill>
                  </a:rPr>
                  <a:t>S</a:t>
                </a:r>
                <a:r>
                  <a:rPr lang="en-US" sz="2800" dirty="0"/>
                  <a:t> of their vector sum  </a:t>
                </a:r>
                <a:r>
                  <a:rPr lang="en-US" sz="2800" dirty="0">
                    <a:solidFill>
                      <a:schemeClr val="tx2"/>
                    </a:solidFill>
                  </a:rPr>
                  <a:t>S = V1+V2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/>
                  <a:t>Determine the angle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800" dirty="0"/>
                  <a:t> between </a:t>
                </a:r>
                <a:r>
                  <a:rPr lang="en-US" sz="2800" dirty="0">
                    <a:solidFill>
                      <a:schemeClr val="tx2"/>
                    </a:solidFill>
                  </a:rPr>
                  <a:t>S</a:t>
                </a:r>
                <a:r>
                  <a:rPr lang="en-US" sz="2800" dirty="0"/>
                  <a:t> and the positive</a:t>
                </a:r>
                <a:r>
                  <a:rPr lang="en-US" sz="2800" dirty="0">
                    <a:solidFill>
                      <a:schemeClr val="tx2"/>
                    </a:solidFill>
                  </a:rPr>
                  <a:t> x-axis</a:t>
                </a:r>
                <a:r>
                  <a:rPr lang="en-US" sz="28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/>
                  <a:t>Write </a:t>
                </a:r>
                <a:r>
                  <a:rPr lang="en-US" sz="2800" dirty="0">
                    <a:solidFill>
                      <a:schemeClr val="tx2"/>
                    </a:solidFill>
                  </a:rPr>
                  <a:t>S</a:t>
                </a:r>
                <a:r>
                  <a:rPr lang="en-US" sz="2800" dirty="0"/>
                  <a:t> as a vector in terms off unit vectors </a:t>
                </a:r>
                <a:r>
                  <a:rPr lang="en-US" sz="2800" dirty="0" err="1">
                    <a:solidFill>
                      <a:schemeClr val="tx2"/>
                    </a:solidFill>
                  </a:rPr>
                  <a:t>i</a:t>
                </a:r>
                <a:r>
                  <a:rPr lang="en-US" sz="2800" dirty="0"/>
                  <a:t> and </a:t>
                </a:r>
                <a:r>
                  <a:rPr lang="en-US" sz="2800" dirty="0">
                    <a:solidFill>
                      <a:schemeClr val="tx2"/>
                    </a:solidFill>
                  </a:rPr>
                  <a:t>j</a:t>
                </a:r>
                <a:r>
                  <a:rPr lang="en-US" sz="2800" dirty="0"/>
                  <a:t> and then write a unit along the vector sum </a:t>
                </a:r>
                <a:r>
                  <a:rPr lang="en-US" sz="2800" dirty="0">
                    <a:solidFill>
                      <a:schemeClr val="tx2"/>
                    </a:solidFill>
                  </a:rPr>
                  <a:t>S</a:t>
                </a:r>
                <a:r>
                  <a:rPr lang="en-US" sz="28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/>
                  <a:t>Determine the vector difference </a:t>
                </a:r>
                <a:r>
                  <a:rPr lang="en-US" sz="2800" dirty="0">
                    <a:solidFill>
                      <a:schemeClr val="tx2"/>
                    </a:solidFill>
                  </a:rPr>
                  <a:t>D = V1 - V2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08720"/>
                <a:ext cx="8471284" cy="5652628"/>
              </a:xfrm>
              <a:blipFill rotWithShape="0">
                <a:blip r:embed="rId2"/>
                <a:stretch>
                  <a:fillRect l="-1655" t="-1402" r="-10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386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18872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1.4 Operation With Vectors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65262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Example cont..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684" y="1736811"/>
            <a:ext cx="5436604" cy="409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31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18872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1.4 Operation With Vectors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08720"/>
                <a:ext cx="8229600" cy="5652628"/>
              </a:xfrm>
            </p:spPr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FF0000"/>
                    </a:solidFill>
                  </a:rPr>
                  <a:t>Solution </a:t>
                </a:r>
              </a:p>
              <a:p>
                <a:pPr marL="514350" indent="-514350">
                  <a:buAutoNum type="arabicPeriod"/>
                </a:pPr>
                <a:r>
                  <a:rPr lang="en-US" dirty="0">
                    <a:solidFill>
                      <a:schemeClr val="accent1"/>
                    </a:solidFill>
                  </a:rPr>
                  <a:t>We construct to scale the parallelogram   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func>
                        <m:func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105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=5.59 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𝑢𝑛𝑖𝑡𝑠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08720"/>
                <a:ext cx="8229600" cy="5652628"/>
              </a:xfrm>
              <a:blipFill rotWithShape="0">
                <a:blip r:embed="rId2"/>
                <a:stretch>
                  <a:fillRect l="-1704" t="-1402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9" y="2046290"/>
            <a:ext cx="3564396" cy="31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20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18872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1.4 Operation With Vectors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08720"/>
                <a:ext cx="8229600" cy="5949280"/>
              </a:xfrm>
            </p:spPr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FF0000"/>
                    </a:solidFill>
                  </a:rPr>
                  <a:t>Solution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1"/>
                    </a:solidFill>
                  </a:rPr>
                  <a:t>2. Using the law of sine for the lower triangle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105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p>
                              </m:sSup>
                            </m:e>
                          </m:func>
                        </m:num>
                        <m:den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5.59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+30)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+30)</m:t>
                          </m:r>
                        </m:e>
                      </m:func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0.692</m:t>
                      </m:r>
                    </m:oMath>
                  </m:oMathPara>
                </a14:m>
                <a:endParaRPr lang="en-US" b="0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+30</m:t>
                          </m:r>
                        </m:e>
                      </m:d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43.8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13.76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08720"/>
                <a:ext cx="8229600" cy="5949280"/>
              </a:xfrm>
              <a:blipFill rotWithShape="0">
                <a:blip r:embed="rId2"/>
                <a:stretch>
                  <a:fillRect l="-1852" t="-133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2069298"/>
            <a:ext cx="4074548" cy="26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370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18872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1.4 Operation With Vectors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08720"/>
                <a:ext cx="8229600" cy="5949280"/>
              </a:xfrm>
            </p:spPr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FF0000"/>
                    </a:solidFill>
                  </a:rPr>
                  <a:t>Solution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1"/>
                    </a:solidFill>
                  </a:rPr>
                  <a:t>3. With knowledge of </a:t>
                </a:r>
                <a:r>
                  <a:rPr lang="en-US" dirty="0">
                    <a:solidFill>
                      <a:schemeClr val="tx2"/>
                    </a:solidFill>
                  </a:rPr>
                  <a:t>S</a:t>
                </a:r>
                <a:r>
                  <a:rPr lang="en-US" dirty="0">
                    <a:solidFill>
                      <a:schemeClr val="accent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</a:t>
                </a:r>
              </a:p>
              <a:p>
                <a:pPr marL="46355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5.59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func>
                          <m:func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13.76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p>
                            </m:sSup>
                          </m:e>
                        </m:func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func>
                          <m:func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13.75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p>
                            </m:sSup>
                          </m:e>
                        </m:func>
                      </m:e>
                    </m:d>
                  </m:oMath>
                </a14:m>
                <a:endParaRPr lang="en-US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04863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=5.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43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+1.328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𝑢𝑛𝑖𝑡𝑠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1"/>
                    </a:solidFill>
                  </a:rPr>
                  <a:t>Unit vector in the direction of 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5.43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+1.328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5.59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0.97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+0.238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𝑢𝑛𝑖𝑡𝑠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08720"/>
                <a:ext cx="8229600" cy="5949280"/>
              </a:xfrm>
              <a:blipFill rotWithShape="0">
                <a:blip r:embed="rId2"/>
                <a:stretch>
                  <a:fillRect l="-1852" t="-1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5983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18872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1.4 Operation With Vectors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08720"/>
                <a:ext cx="8507288" cy="5949280"/>
              </a:xfrm>
            </p:spPr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FF0000"/>
                    </a:solidFill>
                  </a:rPr>
                  <a:t>Solution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1"/>
                    </a:solidFill>
                  </a:rPr>
                  <a:t>3. The vector difference 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func>
                          <m:func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</m:func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func>
                          <m:func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</m:func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func>
                          <m:func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</m:func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func>
                          <m:func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</m:func>
                      </m:e>
                    </m:d>
                  </m:oMath>
                </a14:m>
                <a:endParaRPr lang="en-US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04863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0.23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+4.33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𝑢𝑛𝑖𝑡𝑠</m:t>
                      </m:r>
                    </m:oMath>
                  </m:oMathPara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pPr marL="231775" indent="0">
                  <a:lnSpc>
                    <a:spcPct val="150000"/>
                  </a:lnSpc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231775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1+(−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231775" indent="0">
                  <a:lnSpc>
                    <a:spcPct val="150000"/>
                  </a:lnSpc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08720"/>
                <a:ext cx="8507288" cy="5949280"/>
              </a:xfrm>
              <a:blipFill rotWithShape="0">
                <a:blip r:embed="rId2"/>
                <a:stretch>
                  <a:fillRect l="-1791" t="-1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2" y="3872990"/>
            <a:ext cx="3816424" cy="279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534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002" y="-171400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1.4 Operation With Vectors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64704"/>
                <a:ext cx="8229600" cy="597666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B050"/>
                    </a:solidFill>
                  </a:rPr>
                  <a:t>Vector Multiplication</a:t>
                </a:r>
              </a:p>
              <a:p>
                <a:pPr marL="682625" indent="0">
                  <a:buNone/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1. Multiplication of vectors by scalars</a:t>
                </a:r>
              </a:p>
              <a:p>
                <a:pPr marL="682625" indent="0">
                  <a:buNone/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2. Multiplication of vector by a vector</a:t>
                </a:r>
              </a:p>
              <a:p>
                <a:pPr marL="1719263" indent="0">
                  <a:buNone/>
                </a:pPr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2.1 Dot Product: Scalar Product</a:t>
                </a:r>
                <a:endParaRPr lang="en-US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1719263" indent="0">
                  <a:buNone/>
                </a:pPr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2.2. Cross Product: Vector Product 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1. </a:t>
                </a: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Multiplication of vectors by scalars</a:t>
                </a:r>
              </a:p>
              <a:p>
                <a:pPr marL="0" indent="0">
                  <a:buNone/>
                </a:pPr>
                <a:r>
                  <a:rPr lang="en-US" sz="2800" dirty="0"/>
                  <a:t>Let n be a non-zero scalar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sz="2800" dirty="0"/>
                  <a:t> be a vector, then multiplying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sz="2800" dirty="0"/>
                  <a:t> by n gives as a vector whose magnitude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</m:t>
                    </m:r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sz="2800" dirty="0"/>
                  <a:t> and whose </a:t>
                </a:r>
                <a:r>
                  <a:rPr lang="en-US" sz="2800" dirty="0">
                    <a:solidFill>
                      <a:srgbClr val="FF0000"/>
                    </a:solidFill>
                  </a:rPr>
                  <a:t>direction is in the direction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sz="2800" dirty="0"/>
                  <a:t>  if </a:t>
                </a:r>
                <a:r>
                  <a:rPr lang="en-US" sz="2800" dirty="0">
                    <a:solidFill>
                      <a:srgbClr val="FF0000"/>
                    </a:solidFill>
                  </a:rPr>
                  <a:t>n is positive </a:t>
                </a:r>
                <a:r>
                  <a:rPr lang="en-US" sz="2800" dirty="0"/>
                  <a:t>or is </a:t>
                </a:r>
                <a:r>
                  <a:rPr lang="en-US" sz="2800" dirty="0">
                    <a:solidFill>
                      <a:srgbClr val="FF0000"/>
                    </a:solidFill>
                  </a:rPr>
                  <a:t>in opposite direction</a:t>
                </a:r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sz="2800" dirty="0"/>
                  <a:t>  if </a:t>
                </a:r>
                <a:r>
                  <a:rPr lang="en-US" sz="2800" dirty="0">
                    <a:solidFill>
                      <a:srgbClr val="FF0000"/>
                    </a:solidFill>
                  </a:rPr>
                  <a:t>n is negative.</a:t>
                </a:r>
              </a:p>
              <a:p>
                <a:pPr marL="0" indent="0">
                  <a:buNone/>
                </a:pPr>
                <a:endParaRPr 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64704"/>
                <a:ext cx="8229600" cy="5976664"/>
              </a:xfrm>
              <a:blipFill rotWithShape="0">
                <a:blip r:embed="rId2"/>
                <a:stretch>
                  <a:fillRect l="-1852" t="-1325" r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3116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063" y="-171400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1.4 Operation With Vectors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1212" y="944724"/>
                <a:ext cx="8229600" cy="58326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2. Multiplication of vector by a vector</a:t>
                </a:r>
              </a:p>
              <a:p>
                <a:pPr marL="736600" indent="0">
                  <a:buNone/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2.1 Dot Product: Scalar Product</a:t>
                </a:r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US" sz="2800" dirty="0"/>
                  <a:t>The </a:t>
                </a:r>
                <a:r>
                  <a:rPr lang="en-US" sz="2800" dirty="0">
                    <a:solidFill>
                      <a:srgbClr val="FF0000"/>
                    </a:solidFill>
                  </a:rPr>
                  <a:t>scalar product of two vectors A and B </a:t>
                </a:r>
                <a:r>
                  <a:rPr lang="en-US" sz="2800" dirty="0"/>
                  <a:t>which are </a:t>
                </a:r>
                <a:r>
                  <a:rPr lang="en-US" sz="2800" dirty="0">
                    <a:sym typeface="UniversalMath1 BT" panose="05050102010205020602" pitchFamily="18" charset="2"/>
                  </a:rPr>
                  <a:t></a:t>
                </a:r>
                <a:r>
                  <a:rPr lang="en-US" sz="2800" dirty="0"/>
                  <a:t> degrees inclined from each other denoted by A.B (A dot B) </a:t>
                </a:r>
                <a:r>
                  <a:rPr lang="en-US" sz="2800" dirty="0">
                    <a:solidFill>
                      <a:srgbClr val="FF0000"/>
                    </a:solidFill>
                  </a:rPr>
                  <a:t>will result in a scalar of magnitude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800" i="1" smtClean="0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solidFill>
                                  <a:srgbClr val="0E06B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solidFill>
                                  <a:srgbClr val="0E06B6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solidFill>
                                  <a:srgbClr val="0E06B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solidFill>
                                  <a:srgbClr val="0E06B6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func>
                      <m:funcPr>
                        <m:ctrlPr>
                          <a:rPr lang="en-US" sz="2800" b="0" i="1" smtClean="0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800" b="0" i="1" smtClean="0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2800" dirty="0">
                    <a:solidFill>
                      <a:srgbClr val="0E06B6"/>
                    </a:solidFill>
                  </a:rPr>
                  <a:t>i.e.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2800" b="0" i="1" smtClean="0">
                        <a:solidFill>
                          <a:srgbClr val="0E06B6"/>
                        </a:solidFill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2800" b="0" i="1" smtClean="0">
                        <a:solidFill>
                          <a:srgbClr val="0E06B6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solidFill>
                                  <a:srgbClr val="0E06B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solidFill>
                                  <a:srgbClr val="0E06B6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solidFill>
                                  <a:srgbClr val="0E06B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solidFill>
                                  <a:srgbClr val="0E06B6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func>
                      <m:funcPr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  <a:p>
                <a:r>
                  <a:rPr lang="en-US" sz="2800" dirty="0">
                    <a:solidFill>
                      <a:srgbClr val="FF0000"/>
                    </a:solidFill>
                  </a:rPr>
                  <a:t>If analytically expressed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2800" b="0" i="1" smtClean="0">
                        <a:solidFill>
                          <a:srgbClr val="0E06B6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n-US" sz="2800" b="0" i="1" smtClean="0">
                        <a:solidFill>
                          <a:srgbClr val="0E06B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a:rPr lang="en-US" sz="2800" b="0" i="1" smtClean="0">
                        <a:solidFill>
                          <a:srgbClr val="0E06B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  &amp;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2800" i="1">
                        <a:solidFill>
                          <a:srgbClr val="0E06B6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n-US" sz="2800" i="1">
                        <a:solidFill>
                          <a:srgbClr val="0E06B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a:rPr lang="en-US" sz="2800" i="1">
                        <a:solidFill>
                          <a:srgbClr val="0E06B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800" i="1">
                          <a:solidFill>
                            <a:srgbClr val="0E06B6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rgbClr val="0E06B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E06B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sz="2800" i="1" smtClean="0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E06B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E06B6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E06B6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212" y="944724"/>
                <a:ext cx="8229600" cy="5832648"/>
              </a:xfrm>
              <a:blipFill rotWithShape="0">
                <a:blip r:embed="rId2"/>
                <a:stretch>
                  <a:fillRect l="-1852" t="-1358" r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2847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1.4 Operation With Vectors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6027" y="728700"/>
                <a:ext cx="8229600" cy="6012668"/>
              </a:xfrm>
            </p:spPr>
            <p:txBody>
              <a:bodyPr/>
              <a:lstStyle/>
              <a:p>
                <a:pPr marL="519113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2.2. Cross Product: Vector Product </a:t>
                </a:r>
              </a:p>
              <a:p>
                <a:r>
                  <a:rPr lang="en-US" sz="2800" dirty="0" err="1" smtClean="0">
                    <a:solidFill>
                      <a:srgbClr val="0E06B6"/>
                    </a:solidFill>
                  </a:rPr>
                  <a:t>AxB</a:t>
                </a:r>
                <a:r>
                  <a:rPr lang="en-US" sz="2800" dirty="0" smtClean="0"/>
                  <a:t> =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solidFill>
                                  <a:srgbClr val="0E06B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solidFill>
                                  <a:srgbClr val="0E06B6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solidFill>
                                  <a:srgbClr val="0E06B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solidFill>
                                  <a:srgbClr val="0E06B6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func>
                      <m:funcPr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sz="28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2800" i="1">
                        <a:solidFill>
                          <a:srgbClr val="0E06B6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n-US" sz="2800" i="1">
                        <a:solidFill>
                          <a:srgbClr val="0E06B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a:rPr lang="en-US" sz="2800" i="1">
                        <a:solidFill>
                          <a:srgbClr val="0E06B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  &amp;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2800" i="1">
                        <a:solidFill>
                          <a:srgbClr val="0E06B6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n-US" sz="2800" i="1">
                        <a:solidFill>
                          <a:srgbClr val="0E06B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a:rPr lang="en-US" sz="2800" i="1">
                        <a:solidFill>
                          <a:srgbClr val="0E06B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rgbClr val="0E06B6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endParaRPr lang="en-US" sz="28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400" i="1">
                          <a:solidFill>
                            <a:srgbClr val="0E06B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sz="2400" i="1">
                          <a:solidFill>
                            <a:srgbClr val="0E06B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E06B6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E06B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⃗"/>
                          <m:ctrlP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n-US" sz="2400" i="1">
                          <a:solidFill>
                            <a:srgbClr val="0E06B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E06B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E06B6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E06B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E06B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E06B6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E06B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E06B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E06B6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E06B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acc>
                            <m:accPr>
                              <m:chr m:val="⃗"/>
                              <m:ctrlPr>
                                <a:rPr lang="en-US" sz="2400" i="1">
                                  <a:solidFill>
                                    <a:srgbClr val="0E06B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E06B6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acc>
                          <m: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E06B6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0" smtClean="0">
                          <a:solidFill>
                            <a:srgbClr val="0E06B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⃗"/>
                          <m:ctrlP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0E06B6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6027" y="728700"/>
                <a:ext cx="8229600" cy="6012668"/>
              </a:xfrm>
              <a:blipFill rotWithShape="0">
                <a:blip r:embed="rId2"/>
                <a:stretch>
                  <a:fillRect l="-1333" t="-1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964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1736812"/>
            <a:ext cx="7772400" cy="1470025"/>
          </a:xfrm>
        </p:spPr>
        <p:txBody>
          <a:bodyPr/>
          <a:lstStyle/>
          <a:p>
            <a:r>
              <a:rPr lang="en-US" sz="8000" dirty="0"/>
              <a:t>Thank You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6528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4C4C4C"/>
      </a:dk1>
      <a:lt1>
        <a:srgbClr val="CCCCCC"/>
      </a:lt1>
      <a:dk2>
        <a:srgbClr val="FF0080"/>
      </a:dk2>
      <a:lt2>
        <a:srgbClr val="666666"/>
      </a:lt2>
      <a:accent1>
        <a:srgbClr val="333333"/>
      </a:accent1>
      <a:accent2>
        <a:srgbClr val="66CCFF"/>
      </a:accent2>
      <a:accent3>
        <a:srgbClr val="E2E2E2"/>
      </a:accent3>
      <a:accent4>
        <a:srgbClr val="404040"/>
      </a:accent4>
      <a:accent5>
        <a:srgbClr val="ADADAD"/>
      </a:accent5>
      <a:accent6>
        <a:srgbClr val="5CB9E7"/>
      </a:accent6>
      <a:hlink>
        <a:srgbClr val="FF0080"/>
      </a:hlink>
      <a:folHlink>
        <a:srgbClr val="66666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66"/>
        </a:dk1>
        <a:lt1>
          <a:srgbClr val="FFFFFF"/>
        </a:lt1>
        <a:dk2>
          <a:srgbClr val="000066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56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4">
        <a:dk1>
          <a:srgbClr val="000066"/>
        </a:dk1>
        <a:lt1>
          <a:srgbClr val="FFFFFF"/>
        </a:lt1>
        <a:dk2>
          <a:srgbClr val="000066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56"/>
        </a:accent4>
        <a:accent5>
          <a:srgbClr val="DAEDEF"/>
        </a:accent5>
        <a:accent6>
          <a:srgbClr val="2D2D8A"/>
        </a:accent6>
        <a:hlink>
          <a:srgbClr val="3366FF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5">
        <a:dk1>
          <a:srgbClr val="000066"/>
        </a:dk1>
        <a:lt1>
          <a:srgbClr val="FFFFFF"/>
        </a:lt1>
        <a:dk2>
          <a:srgbClr val="000066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56"/>
        </a:accent4>
        <a:accent5>
          <a:srgbClr val="DAEDEF"/>
        </a:accent5>
        <a:accent6>
          <a:srgbClr val="2D2D8A"/>
        </a:accent6>
        <a:hlink>
          <a:srgbClr val="000066"/>
        </a:hlink>
        <a:folHlink>
          <a:srgbClr val="33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6">
        <a:dk1>
          <a:srgbClr val="000066"/>
        </a:dk1>
        <a:lt1>
          <a:srgbClr val="FFFFFF"/>
        </a:lt1>
        <a:dk2>
          <a:srgbClr val="000066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56"/>
        </a:accent4>
        <a:accent5>
          <a:srgbClr val="E2F4FF"/>
        </a:accent5>
        <a:accent6>
          <a:srgbClr val="2D2D8A"/>
        </a:accent6>
        <a:hlink>
          <a:srgbClr val="000066"/>
        </a:hlink>
        <a:folHlink>
          <a:srgbClr val="3333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10626</TotalTime>
  <Words>822</Words>
  <Application>Microsoft Office PowerPoint</Application>
  <PresentationFormat>On-screen Show (4:3)</PresentationFormat>
  <Paragraphs>245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Cambria Math</vt:lpstr>
      <vt:lpstr>Times New Roman</vt:lpstr>
      <vt:lpstr>UniversalMath1 BT</vt:lpstr>
      <vt:lpstr>Wingdings</vt:lpstr>
      <vt:lpstr>Default Design</vt:lpstr>
      <vt:lpstr>PowerPoint Presentation</vt:lpstr>
      <vt:lpstr>1.1 Introduction   </vt:lpstr>
      <vt:lpstr> 1.1 Introduction </vt:lpstr>
      <vt:lpstr>1.2 Basic Concepts  </vt:lpstr>
      <vt:lpstr>Fundamental Principles </vt:lpstr>
      <vt:lpstr>1.3 Scalars and Vectors</vt:lpstr>
      <vt:lpstr>Types of Vectors</vt:lpstr>
      <vt:lpstr>Types of Vector </vt:lpstr>
      <vt:lpstr>Classification of Vector</vt:lpstr>
      <vt:lpstr>Classification of Vector</vt:lpstr>
      <vt:lpstr>Representation of Vector </vt:lpstr>
      <vt:lpstr>Representation of Vector </vt:lpstr>
      <vt:lpstr>Properties of Vectors</vt:lpstr>
      <vt:lpstr>Properties of Vector </vt:lpstr>
      <vt:lpstr>1.4 Operation With Vectors </vt:lpstr>
      <vt:lpstr>1.4 Operation With Vectors </vt:lpstr>
      <vt:lpstr>1.4 Operation With Vectors </vt:lpstr>
      <vt:lpstr>1.4 Operation With Vectors </vt:lpstr>
      <vt:lpstr>1.4 Operation With Vectors </vt:lpstr>
      <vt:lpstr>1.4 Operation With Vectors </vt:lpstr>
      <vt:lpstr>1.4 Operation With Vectors </vt:lpstr>
      <vt:lpstr>1.4 Operation With Vectors </vt:lpstr>
      <vt:lpstr>1.4 Operation With Vectors </vt:lpstr>
      <vt:lpstr>1.4 Operation With Vectors </vt:lpstr>
      <vt:lpstr>1.4 Operation With Vectors </vt:lpstr>
      <vt:lpstr>1.4 Operation With Vectors </vt:lpstr>
      <vt:lpstr>1.4 Operation With Vectors </vt:lpstr>
      <vt:lpstr>1.4 Operation With Vectors </vt:lpstr>
      <vt:lpstr>1.4 Operation With Vectors </vt:lpstr>
      <vt:lpstr>Thank You</vt:lpstr>
    </vt:vector>
  </TitlesOfParts>
  <Company>Presentation Magazine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Rainbow background design</dc:title>
  <dc:creator>Presentation Magazine</dc:creator>
  <cp:lastModifiedBy>WIN-10X64-2020</cp:lastModifiedBy>
  <cp:revision>352</cp:revision>
  <dcterms:modified xsi:type="dcterms:W3CDTF">2023-02-02T18:13:32Z</dcterms:modified>
</cp:coreProperties>
</file>